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003" r:id="rId1"/>
  </p:sldMasterIdLst>
  <p:notesMasterIdLst>
    <p:notesMasterId r:id="rId24"/>
  </p:notesMasterIdLst>
  <p:sldIdLst>
    <p:sldId id="286" r:id="rId2"/>
    <p:sldId id="260" r:id="rId3"/>
    <p:sldId id="261" r:id="rId4"/>
    <p:sldId id="291" r:id="rId5"/>
    <p:sldId id="292" r:id="rId6"/>
    <p:sldId id="293" r:id="rId7"/>
    <p:sldId id="294" r:id="rId8"/>
    <p:sldId id="287" r:id="rId9"/>
    <p:sldId id="295" r:id="rId10"/>
    <p:sldId id="296" r:id="rId11"/>
    <p:sldId id="271" r:id="rId12"/>
    <p:sldId id="289" r:id="rId13"/>
    <p:sldId id="297" r:id="rId14"/>
    <p:sldId id="272" r:id="rId15"/>
    <p:sldId id="273" r:id="rId16"/>
    <p:sldId id="298" r:id="rId17"/>
    <p:sldId id="281" r:id="rId18"/>
    <p:sldId id="278" r:id="rId19"/>
    <p:sldId id="282" r:id="rId20"/>
    <p:sldId id="299" r:id="rId21"/>
    <p:sldId id="290"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5039" autoAdjust="0"/>
  </p:normalViewPr>
  <p:slideViewPr>
    <p:cSldViewPr snapToGrid="0">
      <p:cViewPr varScale="1">
        <p:scale>
          <a:sx n="78" d="100"/>
          <a:sy n="78" d="100"/>
        </p:scale>
        <p:origin x="92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974A2-9AD6-D69D-9EA1-F40FEFE681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FD0790-70A4-C04C-E916-3B1C4FEC86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B130B0-83EE-E5B7-A516-36A4F30577B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3171BDE-B350-3FD2-2E0C-3FFEC11A91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87808D-67F4-4EB4-3A3E-7D96AC1EE66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46973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E16F9-3213-B0CB-E260-438FCFF2E8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E31E69-B61D-3998-510F-57D82605C5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E8A0E0-B7D3-4B43-CC27-A3FA57B0B0E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154F06C-186E-FFA8-0B69-A56A779254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81575C-ED40-3312-8C23-5143E72BB2D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062619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E8DB0-7658-7B9C-3558-F6CAACB880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CDF2364-E74F-31C8-4732-55AEDDA642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2B10CD-304A-DB20-2C5F-F59716B29F0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05E5283-1BFC-9092-6339-D8ED5A3391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D97607-94B9-6D6F-EAD1-83FEF5AC117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61819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EEA86-8B2A-F24F-793A-755A0D6B7C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18BB60-857D-579C-FE8B-6969F3586C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3D4645-D7D4-A4FF-2E46-80EC097FF4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C5AF389-2D33-9EEA-41D8-75E5EE1165C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D983B28-BC90-0797-0B99-F2CC8BE7B2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5A4DF6-AF44-0B84-C5C2-21E6737A728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36027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7CA2A-467A-EA83-1C29-D038B031DCB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4BE1D7-1E44-96BC-DB56-54689C9A8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5F1E13-6EC9-1C1B-67EC-47032B66A3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5D4DBF-3819-106F-D39E-C2B397F12F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F78AC1-481D-430C-B928-29B4CE10DB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87C3C5-D540-6BCD-697B-0FEB10D36E0C}"/>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2E1C165E-8EB8-6448-98A8-19B560829C0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645C50-BEB9-73F3-EFE3-7DBAE3EC098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9441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C2A2D-F8ED-0BB0-6FED-AC3C56EDED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1C8FD09-EFCE-E3D2-07C3-95624F4EAD5F}"/>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6BB7D324-7782-F3B1-38B4-40BB5FF7C8F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C1F9BC4-6976-D970-0FDF-FACCD5B58B0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8216855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E982B5-666B-5CE5-E004-E8A9C604F48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F250E0AC-20CA-22D3-D7A9-AA25D5E7AD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243306-75F3-7E25-548A-99413D4669E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6602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91E0-3BF4-B1FC-3A28-303ACE24BA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A98399-A6CB-9323-1477-4256E5A264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2D18F0F-31C0-1AB2-DDD5-03339832D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30E5CB-FA7B-605C-5783-870FDD48D64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E73A532-C948-E550-F3C1-5EE613F275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5AFC26-5B12-FE12-1FB5-9F72E1557D6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03282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77C05-4412-D60E-D28E-2E8C3E740F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7CF6BD-09B6-56FF-3507-9D4CE494F8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7C830C9-CBCE-F92B-EC3D-A1983105B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05CB70-6381-C2F0-236B-BD209F31463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D489F4BA-081E-2C7D-0DAF-653EAB9A5B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4F5D23-3C72-E59D-642E-9BCE9877AE1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854695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F5EC-47BE-D093-A808-B5416B2DB9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E739DE-D629-D025-9855-36F1201D09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BDE077-F18B-02F2-F558-0DBC7B5DD6C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9ED1CB0-23DF-911D-AA02-E75BB7BBC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AC1784-3A6F-22E6-DF1B-D09469AEA6E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91555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42CFE0-05FD-79A7-610F-EB12C62495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1DA126-2796-7A94-C3C4-D3E0E8C109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E1D1DE-714F-57CC-7B74-0148C606801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A47F2B1-7A70-932E-7992-62AB26B81C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3DE8FC-2A68-2905-3BE9-09C882A4C55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207208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7B616C-4903-69B2-D1E7-4DFBAF6C7F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B2AA6A-7AAC-B24C-3E6D-573E091119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78D999-E80D-FB67-7EB7-B654C3A781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49117CE3-0452-FE17-79FC-B4110A1F35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8356E43-B4DE-5496-66F7-84B8298B54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016088168"/>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06" r:id="rId3"/>
    <p:sldLayoutId id="2147484007" r:id="rId4"/>
    <p:sldLayoutId id="2147484008" r:id="rId5"/>
    <p:sldLayoutId id="2147484009" r:id="rId6"/>
    <p:sldLayoutId id="2147484010" r:id="rId7"/>
    <p:sldLayoutId id="2147484011" r:id="rId8"/>
    <p:sldLayoutId id="2147484012" r:id="rId9"/>
    <p:sldLayoutId id="2147484013" r:id="rId10"/>
    <p:sldLayoutId id="214748401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Mohit242004" TargetMode="External"/><Relationship Id="rId2" Type="http://schemas.openxmlformats.org/officeDocument/2006/relationships/hyperlink" Target="https://www.linkedin.com/in/mohit-chaudhari-028301259/"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kaggle.com/code/anshtanwar/credit-risk-prediction-training-and-eda/input"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gif"/><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8;p1">
            <a:extLst>
              <a:ext uri="{FF2B5EF4-FFF2-40B4-BE49-F238E27FC236}">
                <a16:creationId xmlns:a16="http://schemas.microsoft.com/office/drawing/2014/main" id="{389DC2F6-EF02-01DD-C14A-B52D037F20A4}"/>
              </a:ext>
            </a:extLst>
          </p:cNvPr>
          <p:cNvPicPr preferRelativeResize="0"/>
          <p:nvPr/>
        </p:nvPicPr>
        <p:blipFill rotWithShape="1">
          <a:blip r:embed="rId2">
            <a:alphaModFix/>
          </a:blip>
          <a:srcRect/>
          <a:stretch/>
        </p:blipFill>
        <p:spPr>
          <a:xfrm>
            <a:off x="592" y="0"/>
            <a:ext cx="12190815" cy="6869944"/>
          </a:xfrm>
          <a:prstGeom prst="rect">
            <a:avLst/>
          </a:prstGeom>
          <a:noFill/>
          <a:ln>
            <a:noFill/>
          </a:ln>
        </p:spPr>
      </p:pic>
      <p:sp>
        <p:nvSpPr>
          <p:cNvPr id="3" name="TextBox 2">
            <a:extLst>
              <a:ext uri="{FF2B5EF4-FFF2-40B4-BE49-F238E27FC236}">
                <a16:creationId xmlns:a16="http://schemas.microsoft.com/office/drawing/2014/main" id="{E68FB310-58C4-09D0-E281-6DABCE1A5703}"/>
              </a:ext>
            </a:extLst>
          </p:cNvPr>
          <p:cNvSpPr txBox="1"/>
          <p:nvPr/>
        </p:nvSpPr>
        <p:spPr>
          <a:xfrm>
            <a:off x="3287483" y="3678825"/>
            <a:ext cx="5617029" cy="1261884"/>
          </a:xfrm>
          <a:prstGeom prst="rect">
            <a:avLst/>
          </a:prstGeom>
          <a:noFill/>
        </p:spPr>
        <p:txBody>
          <a:bodyPr wrap="square" rtlCol="0">
            <a:spAutoFit/>
          </a:bodyPr>
          <a:lstStyle/>
          <a:p>
            <a:pPr algn="ctr"/>
            <a:r>
              <a:rPr lang="en-IN" sz="2800" b="1" dirty="0">
                <a:latin typeface="Times New Roman"/>
                <a:ea typeface="Calibri"/>
                <a:cs typeface="Times New Roman"/>
              </a:rPr>
              <a:t>EDA On Credit Risk Analysis</a:t>
            </a:r>
          </a:p>
          <a:p>
            <a:pPr algn="ctr"/>
            <a:endParaRPr lang="en-IN" sz="2400" b="1" dirty="0">
              <a:latin typeface="Times New Roman"/>
              <a:ea typeface="Calibri"/>
              <a:cs typeface="Times New Roman"/>
            </a:endParaRPr>
          </a:p>
          <a:p>
            <a:pPr algn="ct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813956A7-8517-BBB2-8A86-65838653A627}"/>
              </a:ext>
            </a:extLst>
          </p:cNvPr>
          <p:cNvSpPr txBox="1"/>
          <p:nvPr/>
        </p:nvSpPr>
        <p:spPr>
          <a:xfrm>
            <a:off x="4256312" y="4797331"/>
            <a:ext cx="3679372" cy="707886"/>
          </a:xfrm>
          <a:prstGeom prst="rect">
            <a:avLst/>
          </a:prstGeom>
          <a:noFill/>
        </p:spPr>
        <p:txBody>
          <a:bodyPr wrap="square" rtlCol="0">
            <a:spAutoFit/>
          </a:bodyPr>
          <a:lstStyle/>
          <a:p>
            <a:pPr algn="ctr"/>
            <a:r>
              <a:rPr lang="en-US" sz="2000" b="1"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Presented By:</a:t>
            </a:r>
            <a:endParaRPr lang="en-US" sz="2000" b="1" dirty="0">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2000" b="1" dirty="0">
                <a:latin typeface="Times New Roman" panose="02020603050405020304" pitchFamily="18" charset="0"/>
                <a:ea typeface="Calibri" panose="020F0502020204030204" pitchFamily="34" charset="0"/>
                <a:cs typeface="Times New Roman" panose="02020603050405020304" pitchFamily="18" charset="0"/>
              </a:rPr>
              <a:t>Mohit Chaudhari</a:t>
            </a:r>
            <a:endParaRPr lang="en-IN" sz="2000" b="1"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13327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6CD6F4-AE36-9219-A71C-FDE3A172023A}"/>
              </a:ext>
            </a:extLst>
          </p:cNvPr>
          <p:cNvSpPr txBox="1"/>
          <p:nvPr/>
        </p:nvSpPr>
        <p:spPr>
          <a:xfrm>
            <a:off x="997974" y="325351"/>
            <a:ext cx="10196053" cy="4091889"/>
          </a:xfrm>
          <a:prstGeom prst="rect">
            <a:avLst/>
          </a:prstGeom>
          <a:noFill/>
        </p:spPr>
        <p:txBody>
          <a:bodyPr wrap="square" rtlCol="0">
            <a:spAutoFit/>
          </a:bodyPr>
          <a:lstStyle/>
          <a:p>
            <a:pPr algn="ctr"/>
            <a:r>
              <a:rPr lang="en-IN" sz="3000" b="1" dirty="0">
                <a:solidFill>
                  <a:srgbClr val="FF0000"/>
                </a:solidFill>
                <a:latin typeface="Calibri" panose="020F0502020204030204" pitchFamily="34" charset="0"/>
                <a:ea typeface="Calibri" panose="020F0502020204030204" pitchFamily="34" charset="0"/>
                <a:cs typeface="Calibri" panose="020F0502020204030204" pitchFamily="34" charset="0"/>
              </a:rPr>
              <a:t>About me   </a:t>
            </a:r>
          </a:p>
          <a:p>
            <a:pPr algn="ctr"/>
            <a:endParaRPr lang="en-IN" sz="11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lvl="0" algn="just" fontAlgn="base">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Educational Background </a:t>
            </a:r>
            <a:r>
              <a:rPr lang="en-IN" sz="2000" dirty="0">
                <a:latin typeface="Calibri" panose="020F0502020204030204" pitchFamily="34" charset="0"/>
                <a:ea typeface="Calibri" panose="020F0502020204030204" pitchFamily="34" charset="0"/>
                <a:cs typeface="Calibri" panose="020F0502020204030204" pitchFamily="34" charset="0"/>
              </a:rPr>
              <a:t>: </a:t>
            </a:r>
            <a:r>
              <a:rPr lang="en-IN" sz="2000" dirty="0" err="1">
                <a:latin typeface="Calibri" panose="020F0502020204030204" pitchFamily="34" charset="0"/>
                <a:ea typeface="Calibri" panose="020F0502020204030204" pitchFamily="34" charset="0"/>
                <a:cs typeface="Calibri" panose="020F0502020204030204" pitchFamily="34" charset="0"/>
              </a:rPr>
              <a:t>B.Tech</a:t>
            </a:r>
            <a:r>
              <a:rPr lang="en-IN" sz="2000" dirty="0">
                <a:latin typeface="Calibri" panose="020F0502020204030204" pitchFamily="34" charset="0"/>
                <a:ea typeface="Calibri" panose="020F0502020204030204" pitchFamily="34" charset="0"/>
                <a:cs typeface="Calibri" panose="020F0502020204030204" pitchFamily="34" charset="0"/>
              </a:rPr>
              <a:t> (Computer Science and Engineering)</a:t>
            </a:r>
          </a:p>
          <a:p>
            <a:pPr lvl="0" algn="just" fontAlgn="base">
              <a:lnSpc>
                <a:spcPct val="150000"/>
              </a:lnSpc>
            </a:pPr>
            <a:endParaRPr lang="en-IN" sz="1100" dirty="0">
              <a:latin typeface="Calibri" panose="020F0502020204030204" pitchFamily="34" charset="0"/>
              <a:ea typeface="Calibri" panose="020F0502020204030204" pitchFamily="34" charset="0"/>
              <a:cs typeface="Calibri" panose="020F0502020204030204" pitchFamily="34" charset="0"/>
            </a:endParaRPr>
          </a:p>
          <a:p>
            <a:pPr lvl="0" algn="just" fontAlgn="base">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Want to learn Data Science because </a:t>
            </a:r>
            <a:r>
              <a:rPr lang="en-IN" sz="2000" dirty="0">
                <a:latin typeface="Calibri" panose="020F0502020204030204" pitchFamily="34" charset="0"/>
                <a:ea typeface="Calibri" panose="020F0502020204030204" pitchFamily="34" charset="0"/>
                <a:cs typeface="Calibri" panose="020F0502020204030204" pitchFamily="34" charset="0"/>
              </a:rPr>
              <a:t>it allows me to turn raw data into meaningful insights that can solve real-world problems. In today’s digital world, data is everywhere, and I’m interested in understanding patterns, trends, and making data-driven decisions rather than relying on assumptions.</a:t>
            </a:r>
          </a:p>
          <a:p>
            <a:pPr lvl="0" algn="just" fontAlgn="base">
              <a:lnSpc>
                <a:spcPct val="150000"/>
              </a:lnSpc>
            </a:pPr>
            <a:endParaRPr lang="en-IN" sz="1100" dirty="0">
              <a:latin typeface="Calibri" panose="020F0502020204030204" pitchFamily="34" charset="0"/>
              <a:ea typeface="Calibri" panose="020F0502020204030204" pitchFamily="34" charset="0"/>
              <a:cs typeface="Calibri" panose="020F0502020204030204" pitchFamily="34" charset="0"/>
            </a:endParaRPr>
          </a:p>
          <a:p>
            <a:pPr lvl="0" algn="just" fontAlgn="base">
              <a:lnSpc>
                <a:spcPct val="150000"/>
              </a:lnSpc>
            </a:pPr>
            <a:r>
              <a:rPr lang="en-IN" sz="2000" b="1" dirty="0">
                <a:latin typeface="Calibri" panose="020F0502020204030204" pitchFamily="34" charset="0"/>
                <a:ea typeface="Calibri" panose="020F0502020204030204" pitchFamily="34" charset="0"/>
                <a:cs typeface="Calibri" panose="020F0502020204030204" pitchFamily="34" charset="0"/>
              </a:rPr>
              <a:t>Experience </a:t>
            </a:r>
            <a:r>
              <a:rPr lang="en-IN" sz="2000" dirty="0">
                <a:latin typeface="Calibri" panose="020F0502020204030204" pitchFamily="34" charset="0"/>
                <a:ea typeface="Calibri" panose="020F0502020204030204" pitchFamily="34" charset="0"/>
                <a:cs typeface="Calibri" panose="020F0502020204030204" pitchFamily="34" charset="0"/>
              </a:rPr>
              <a:t>: No</a:t>
            </a:r>
          </a:p>
        </p:txBody>
      </p:sp>
      <p:sp>
        <p:nvSpPr>
          <p:cNvPr id="5" name="TextBox 4">
            <a:extLst>
              <a:ext uri="{FF2B5EF4-FFF2-40B4-BE49-F238E27FC236}">
                <a16:creationId xmlns:a16="http://schemas.microsoft.com/office/drawing/2014/main" id="{5793A912-8074-84B6-3227-F357A136EFAC}"/>
              </a:ext>
            </a:extLst>
          </p:cNvPr>
          <p:cNvSpPr txBox="1"/>
          <p:nvPr/>
        </p:nvSpPr>
        <p:spPr>
          <a:xfrm>
            <a:off x="997973" y="4279588"/>
            <a:ext cx="2782529" cy="1493358"/>
          </a:xfrm>
          <a:prstGeom prst="rect">
            <a:avLst/>
          </a:prstGeom>
          <a:noFill/>
        </p:spPr>
        <p:txBody>
          <a:bodyPr wrap="square" rtlCol="0">
            <a:spAutoFit/>
          </a:bodyPr>
          <a:lstStyle/>
          <a:p>
            <a:pPr>
              <a:lnSpc>
                <a:spcPct val="150000"/>
              </a:lnSpc>
            </a:pPr>
            <a:r>
              <a:rPr lang="en-IN" sz="3200" b="1" dirty="0">
                <a:hlinkClick r:id="rId2"/>
              </a:rPr>
              <a:t>LinkedIn</a:t>
            </a:r>
          </a:p>
          <a:p>
            <a:pPr>
              <a:lnSpc>
                <a:spcPct val="150000"/>
              </a:lnSpc>
            </a:pPr>
            <a:r>
              <a:rPr lang="en-IN" sz="3200" b="1" dirty="0">
                <a:hlinkClick r:id="rId2"/>
              </a:rPr>
              <a:t> </a:t>
            </a:r>
            <a:r>
              <a:rPr lang="en-IN" sz="3200" b="1" dirty="0">
                <a:hlinkClick r:id="rId3"/>
              </a:rPr>
              <a:t>GitHub</a:t>
            </a:r>
            <a:endParaRPr lang="en-IN" sz="3200" b="1" dirty="0"/>
          </a:p>
        </p:txBody>
      </p:sp>
      <p:sp>
        <p:nvSpPr>
          <p:cNvPr id="3" name="Freeform 3">
            <a:extLst>
              <a:ext uri="{FF2B5EF4-FFF2-40B4-BE49-F238E27FC236}">
                <a16:creationId xmlns:a16="http://schemas.microsoft.com/office/drawing/2014/main" id="{853917F8-9A1A-DD48-D1DF-768F2164F1CA}"/>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4"/>
            <a:stretch>
              <a:fillRect b="3"/>
            </a:stretch>
          </a:blipFill>
        </p:spPr>
        <p:txBody>
          <a:bodyPr/>
          <a:lstStyle/>
          <a:p>
            <a:endParaRPr lang="en-IN"/>
          </a:p>
        </p:txBody>
      </p:sp>
    </p:spTree>
    <p:extLst>
      <p:ext uri="{BB962C8B-B14F-4D97-AF65-F5344CB8AC3E}">
        <p14:creationId xmlns:p14="http://schemas.microsoft.com/office/powerpoint/2010/main" val="26429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60717831-283F-8F79-55DF-37EA15B43C4C}"/>
              </a:ext>
            </a:extLst>
          </p:cNvPr>
          <p:cNvSpPr txBox="1"/>
          <p:nvPr/>
        </p:nvSpPr>
        <p:spPr>
          <a:xfrm>
            <a:off x="1061884" y="925556"/>
            <a:ext cx="10294373" cy="3811621"/>
          </a:xfrm>
          <a:prstGeom prst="rect">
            <a:avLst/>
          </a:prstGeom>
          <a:noFill/>
        </p:spPr>
        <p:txBody>
          <a:bodyPr wrap="square" rtlCol="0">
            <a:spAutoFit/>
          </a:bodyPr>
          <a:lstStyle/>
          <a:p>
            <a:pPr algn="just">
              <a:lnSpc>
                <a:spcPct val="150000"/>
              </a:lnSpc>
            </a:pPr>
            <a:r>
              <a:rPr lang="en-US" sz="2000" dirty="0">
                <a:solidFill>
                  <a:srgbClr val="16213A"/>
                </a:solidFill>
                <a:latin typeface="Calibri" pitchFamily="34" charset="0"/>
                <a:ea typeface="Calibri" pitchFamily="34" charset="-122"/>
                <a:cs typeface="Calibri" pitchFamily="34" charset="-120"/>
              </a:rPr>
              <a:t>The objective of this project is to perform Exploratory Data Analysis (EDA) on a Credit Risk dataset to identify the key factors affecting loan status and understand customer credit </a:t>
            </a:r>
            <a:r>
              <a:rPr lang="en-US" sz="2000" dirty="0" err="1">
                <a:solidFill>
                  <a:srgbClr val="16213A"/>
                </a:solidFill>
                <a:latin typeface="Calibri" pitchFamily="34" charset="0"/>
                <a:ea typeface="Calibri" pitchFamily="34" charset="-122"/>
                <a:cs typeface="Calibri" pitchFamily="34" charset="-120"/>
              </a:rPr>
              <a:t>behaviour</a:t>
            </a:r>
            <a:r>
              <a:rPr lang="en-US" sz="2000" dirty="0">
                <a:solidFill>
                  <a:srgbClr val="16213A"/>
                </a:solidFill>
                <a:latin typeface="Calibri" pitchFamily="34" charset="0"/>
                <a:ea typeface="Calibri" pitchFamily="34" charset="-122"/>
                <a:cs typeface="Calibri" pitchFamily="34" charset="-120"/>
              </a:rPr>
              <a:t> through statistical analysis and visualizations.</a:t>
            </a:r>
            <a:endParaRPr lang="en-US" sz="2000" dirty="0"/>
          </a:p>
          <a:p>
            <a:pPr algn="just">
              <a:lnSpc>
                <a:spcPct val="150000"/>
              </a:lnSpc>
            </a:pPr>
            <a:endParaRPr lang="en-US" sz="2000" dirty="0"/>
          </a:p>
          <a:p>
            <a:pPr algn="just">
              <a:lnSpc>
                <a:spcPct val="150000"/>
              </a:lnSpc>
            </a:pPr>
            <a:r>
              <a:rPr lang="en-US" sz="2000" dirty="0">
                <a:solidFill>
                  <a:srgbClr val="16213A"/>
                </a:solidFill>
                <a:latin typeface="Calibri" pitchFamily="34" charset="0"/>
                <a:ea typeface="Calibri" pitchFamily="34" charset="-122"/>
                <a:cs typeface="Calibri" pitchFamily="34" charset="-120"/>
              </a:rPr>
              <a:t>This involves examining demographic attributes, income, employment history, and loan characteristics to uncover patterns that distinguish approved loans from those that are not approved.</a:t>
            </a:r>
            <a:endParaRPr lang="en-US" sz="2000" dirty="0"/>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706E93D-FAC6-02AD-C1DC-F8094454BC7F}"/>
              </a:ext>
            </a:extLst>
          </p:cNvPr>
          <p:cNvSpPr txBox="1"/>
          <p:nvPr/>
        </p:nvSpPr>
        <p:spPr>
          <a:xfrm>
            <a:off x="0" y="213792"/>
            <a:ext cx="12192000" cy="830997"/>
          </a:xfrm>
          <a:prstGeom prst="rect">
            <a:avLst/>
          </a:prstGeom>
          <a:noFill/>
        </p:spPr>
        <p:txBody>
          <a:bodyPr wrap="square" rtlCol="0">
            <a:spAutoFit/>
          </a:bodyPr>
          <a:lstStyle/>
          <a:p>
            <a:pPr algn="ctr"/>
            <a:r>
              <a:rPr lang="en-IN" sz="3000" b="1" dirty="0">
                <a:solidFill>
                  <a:srgbClr val="FF0000"/>
                </a:solidFill>
                <a:latin typeface="Times New Roman"/>
                <a:ea typeface="Calibri" panose="020F0502020204030204" pitchFamily="34" charset="0"/>
                <a:cs typeface="Times New Roman"/>
              </a:rPr>
              <a:t>Problem Statement</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562BF312-0AAD-0428-3841-E2A599B735D4}"/>
              </a:ext>
            </a:extLst>
          </p:cNvPr>
          <p:cNvPicPr>
            <a:picLocks noChangeAspect="1"/>
          </p:cNvPicPr>
          <p:nvPr/>
        </p:nvPicPr>
        <p:blipFill>
          <a:blip r:embed="rId2"/>
          <a:stretch>
            <a:fillRect/>
          </a:stretch>
        </p:blipFill>
        <p:spPr>
          <a:xfrm>
            <a:off x="4842201" y="2958079"/>
            <a:ext cx="4272304" cy="4704735"/>
          </a:xfrm>
          <a:prstGeom prst="rect">
            <a:avLst/>
          </a:prstGeom>
        </p:spPr>
      </p:pic>
      <p:sp>
        <p:nvSpPr>
          <p:cNvPr id="2" name="Freeform 3">
            <a:extLst>
              <a:ext uri="{FF2B5EF4-FFF2-40B4-BE49-F238E27FC236}">
                <a16:creationId xmlns:a16="http://schemas.microsoft.com/office/drawing/2014/main" id="{BAEBA148-942F-C775-08F0-559C3D3CF92E}"/>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280382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769855-5A8A-84FD-6D0C-B2C33EB35BDA}"/>
              </a:ext>
            </a:extLst>
          </p:cNvPr>
          <p:cNvSpPr txBox="1"/>
          <p:nvPr/>
        </p:nvSpPr>
        <p:spPr>
          <a:xfrm>
            <a:off x="226142" y="354313"/>
            <a:ext cx="12192000" cy="830997"/>
          </a:xfrm>
          <a:prstGeom prst="rect">
            <a:avLst/>
          </a:prstGeom>
          <a:noFill/>
        </p:spPr>
        <p:txBody>
          <a:bodyPr wrap="square" rtlCol="0">
            <a:spAutoFit/>
          </a:bodyPr>
          <a:lstStyle/>
          <a:p>
            <a:pPr algn="ctr"/>
            <a:r>
              <a:rPr lang="en-IN" sz="3000" b="1" dirty="0">
                <a:solidFill>
                  <a:srgbClr val="FF0000"/>
                </a:solidFill>
                <a:latin typeface="Times New Roman"/>
                <a:ea typeface="Calibri" panose="020F0502020204030204" pitchFamily="34" charset="0"/>
                <a:cs typeface="Times New Roman"/>
              </a:rPr>
              <a:t>Objectives &amp; Use Cases</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78B8B37-54BB-A875-E375-BF5879FA225F}"/>
              </a:ext>
            </a:extLst>
          </p:cNvPr>
          <p:cNvSpPr txBox="1"/>
          <p:nvPr/>
        </p:nvSpPr>
        <p:spPr>
          <a:xfrm>
            <a:off x="1125792" y="985388"/>
            <a:ext cx="4729317" cy="2812950"/>
          </a:xfrm>
          <a:prstGeom prst="rect">
            <a:avLst/>
          </a:prstGeom>
          <a:noFill/>
        </p:spPr>
        <p:txBody>
          <a:bodyPr wrap="square" rtlCol="0">
            <a:spAutoFit/>
          </a:bodyPr>
          <a:lstStyle/>
          <a:p>
            <a:pPr>
              <a:lnSpc>
                <a:spcPct val="150000"/>
              </a:lnSpc>
            </a:pPr>
            <a:r>
              <a:rPr lang="en-IN" sz="2000" b="1" dirty="0"/>
              <a:t>Objectives</a:t>
            </a:r>
          </a:p>
          <a:p>
            <a:pPr marL="342900" indent="-342900">
              <a:lnSpc>
                <a:spcPct val="150000"/>
              </a:lnSpc>
              <a:buFont typeface="Arial" panose="020B0604020202020204" pitchFamily="34" charset="0"/>
              <a:buChar char="•"/>
            </a:pPr>
            <a:r>
              <a:rPr lang="en-IN" sz="2000" dirty="0" err="1"/>
              <a:t>Analyze</a:t>
            </a:r>
            <a:r>
              <a:rPr lang="en-IN" sz="2000" dirty="0"/>
              <a:t> Customer profiles</a:t>
            </a:r>
          </a:p>
          <a:p>
            <a:pPr marL="342900" indent="-342900">
              <a:lnSpc>
                <a:spcPct val="150000"/>
              </a:lnSpc>
              <a:buFont typeface="Arial" panose="020B0604020202020204" pitchFamily="34" charset="0"/>
              <a:buChar char="•"/>
            </a:pPr>
            <a:r>
              <a:rPr lang="en-IN" sz="2000" dirty="0"/>
              <a:t>Identify key risk factors</a:t>
            </a:r>
          </a:p>
          <a:p>
            <a:pPr marL="342900" indent="-342900">
              <a:lnSpc>
                <a:spcPct val="150000"/>
              </a:lnSpc>
              <a:buFont typeface="Arial" panose="020B0604020202020204" pitchFamily="34" charset="0"/>
              <a:buChar char="•"/>
            </a:pPr>
            <a:r>
              <a:rPr lang="en-IN" sz="2000" dirty="0"/>
              <a:t>Study loan and income trends</a:t>
            </a:r>
          </a:p>
          <a:p>
            <a:pPr marL="342900" indent="-342900">
              <a:lnSpc>
                <a:spcPct val="150000"/>
              </a:lnSpc>
              <a:buFont typeface="Arial" panose="020B0604020202020204" pitchFamily="34" charset="0"/>
              <a:buChar char="•"/>
            </a:pPr>
            <a:r>
              <a:rPr lang="en-IN" sz="2000" dirty="0"/>
              <a:t>Understand approval patterns</a:t>
            </a:r>
          </a:p>
          <a:p>
            <a:pPr marL="342900" indent="-342900">
              <a:lnSpc>
                <a:spcPct val="150000"/>
              </a:lnSpc>
              <a:buFont typeface="Arial" panose="020B0604020202020204" pitchFamily="34" charset="0"/>
              <a:buChar char="•"/>
            </a:pPr>
            <a:r>
              <a:rPr lang="en-IN" sz="2000" dirty="0"/>
              <a:t>Support credit risk assessment</a:t>
            </a:r>
            <a:endParaRPr lang="en-IN"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6561C65-7879-CA96-46C9-922DE1C35666}"/>
              </a:ext>
            </a:extLst>
          </p:cNvPr>
          <p:cNvSpPr txBox="1"/>
          <p:nvPr/>
        </p:nvSpPr>
        <p:spPr>
          <a:xfrm>
            <a:off x="5855108" y="3598416"/>
            <a:ext cx="4508091" cy="2812950"/>
          </a:xfrm>
          <a:prstGeom prst="rect">
            <a:avLst/>
          </a:prstGeom>
          <a:noFill/>
        </p:spPr>
        <p:txBody>
          <a:bodyPr wrap="square" rtlCol="0">
            <a:spAutoFit/>
          </a:bodyPr>
          <a:lstStyle/>
          <a:p>
            <a:pPr>
              <a:lnSpc>
                <a:spcPct val="150000"/>
              </a:lnSpc>
            </a:pPr>
            <a:r>
              <a:rPr lang="en-IN" sz="2000" b="1" dirty="0"/>
              <a:t>Use Cases</a:t>
            </a:r>
          </a:p>
          <a:p>
            <a:pPr marL="342900" indent="-342900">
              <a:lnSpc>
                <a:spcPct val="150000"/>
              </a:lnSpc>
              <a:buFont typeface="Arial" panose="020B0604020202020204" pitchFamily="34" charset="0"/>
              <a:buChar char="•"/>
            </a:pPr>
            <a:r>
              <a:rPr lang="en-IN" sz="2000" dirty="0"/>
              <a:t>Loan approval decisions</a:t>
            </a:r>
          </a:p>
          <a:p>
            <a:pPr marL="342900" indent="-342900">
              <a:lnSpc>
                <a:spcPct val="150000"/>
              </a:lnSpc>
              <a:buFont typeface="Arial" panose="020B0604020202020204" pitchFamily="34" charset="0"/>
              <a:buChar char="•"/>
            </a:pPr>
            <a:r>
              <a:rPr lang="en-IN" sz="2000" dirty="0"/>
              <a:t>Risk assessment of borrowers</a:t>
            </a:r>
          </a:p>
          <a:p>
            <a:pPr marL="342900" indent="-342900">
              <a:lnSpc>
                <a:spcPct val="150000"/>
              </a:lnSpc>
              <a:buFont typeface="Arial" panose="020B0604020202020204" pitchFamily="34" charset="0"/>
              <a:buChar char="•"/>
            </a:pPr>
            <a:r>
              <a:rPr lang="en-IN" sz="2000" dirty="0"/>
              <a:t>Default risk identification</a:t>
            </a:r>
          </a:p>
          <a:p>
            <a:pPr marL="342900" indent="-342900">
              <a:lnSpc>
                <a:spcPct val="150000"/>
              </a:lnSpc>
              <a:buFont typeface="Arial" panose="020B0604020202020204" pitchFamily="34" charset="0"/>
              <a:buChar char="•"/>
            </a:pPr>
            <a:r>
              <a:rPr lang="en-IN" sz="2000" dirty="0"/>
              <a:t>Financial loss reduction</a:t>
            </a:r>
          </a:p>
          <a:p>
            <a:pPr marL="342900" indent="-342900">
              <a:lnSpc>
                <a:spcPct val="150000"/>
              </a:lnSpc>
              <a:buFont typeface="Arial" panose="020B0604020202020204" pitchFamily="34" charset="0"/>
              <a:buChar char="•"/>
            </a:pPr>
            <a:r>
              <a:rPr lang="en-IN" sz="2000" dirty="0"/>
              <a:t>Better lending strategies</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043F6B5-3AF3-5EA9-98D8-5CAD41AA4ACE}"/>
              </a:ext>
            </a:extLst>
          </p:cNvPr>
          <p:cNvPicPr>
            <a:picLocks noChangeAspect="1"/>
          </p:cNvPicPr>
          <p:nvPr/>
        </p:nvPicPr>
        <p:blipFill>
          <a:blip r:embed="rId2"/>
          <a:stretch>
            <a:fillRect/>
          </a:stretch>
        </p:blipFill>
        <p:spPr>
          <a:xfrm>
            <a:off x="7720818" y="-388208"/>
            <a:ext cx="3741150" cy="5560142"/>
          </a:xfrm>
          <a:prstGeom prst="rect">
            <a:avLst/>
          </a:prstGeom>
        </p:spPr>
      </p:pic>
      <p:sp>
        <p:nvSpPr>
          <p:cNvPr id="2" name="Freeform 3">
            <a:extLst>
              <a:ext uri="{FF2B5EF4-FFF2-40B4-BE49-F238E27FC236}">
                <a16:creationId xmlns:a16="http://schemas.microsoft.com/office/drawing/2014/main" id="{9EB36F27-D9D9-CAB3-3C3C-31FA250B30BD}"/>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704541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75D092-5864-A34E-8F08-83A27EDEFE19}"/>
              </a:ext>
            </a:extLst>
          </p:cNvPr>
          <p:cNvSpPr txBox="1"/>
          <p:nvPr/>
        </p:nvSpPr>
        <p:spPr>
          <a:xfrm>
            <a:off x="226142" y="354313"/>
            <a:ext cx="12192000" cy="830997"/>
          </a:xfrm>
          <a:prstGeom prst="rect">
            <a:avLst/>
          </a:prstGeom>
          <a:noFill/>
        </p:spPr>
        <p:txBody>
          <a:bodyPr wrap="square" rtlCol="0">
            <a:spAutoFit/>
          </a:bodyPr>
          <a:lstStyle/>
          <a:p>
            <a:pPr algn="ctr"/>
            <a:r>
              <a:rPr lang="en-IN" sz="3000" b="1" dirty="0">
                <a:solidFill>
                  <a:srgbClr val="FF0000"/>
                </a:solidFill>
                <a:latin typeface="Times New Roman"/>
                <a:ea typeface="Calibri" panose="020F0502020204030204" pitchFamily="34" charset="0"/>
                <a:cs typeface="Times New Roman"/>
              </a:rPr>
              <a:t>Why this Project ?</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D605A931-327A-9477-08B3-64E1620D4054}"/>
              </a:ext>
            </a:extLst>
          </p:cNvPr>
          <p:cNvSpPr txBox="1"/>
          <p:nvPr/>
        </p:nvSpPr>
        <p:spPr>
          <a:xfrm>
            <a:off x="1209368" y="1242974"/>
            <a:ext cx="9763432" cy="2016193"/>
          </a:xfrm>
          <a:prstGeom prst="rect">
            <a:avLst/>
          </a:prstGeom>
          <a:noFill/>
        </p:spPr>
        <p:txBody>
          <a:bodyPr wrap="square" rtlCol="0">
            <a:spAutoFit/>
          </a:bodyPr>
          <a:lstStyle/>
          <a:p>
            <a:pPr>
              <a:lnSpc>
                <a:spcPct val="115000"/>
              </a:lnSpc>
            </a:pPr>
            <a:r>
              <a:rPr lang="en-US" sz="2200" b="1" dirty="0">
                <a:latin typeface="Calibri" pitchFamily="34" charset="0"/>
                <a:ea typeface="Calibri" pitchFamily="34" charset="-122"/>
                <a:cs typeface="Calibri" pitchFamily="34" charset="-120"/>
              </a:rPr>
              <a:t>Reason to choosing this dataset:</a:t>
            </a:r>
          </a:p>
          <a:p>
            <a:pPr algn="just">
              <a:lnSpc>
                <a:spcPct val="115000"/>
              </a:lnSpc>
            </a:pPr>
            <a:r>
              <a:rPr lang="en-US" sz="2200" dirty="0">
                <a:latin typeface="Calibri" pitchFamily="34" charset="0"/>
                <a:ea typeface="Calibri" pitchFamily="34" charset="-122"/>
                <a:cs typeface="Calibri" pitchFamily="34" charset="-120"/>
              </a:rPr>
              <a:t>Credit risk is one of the most critical challenges faced by banks and lending institutions. </a:t>
            </a:r>
            <a:r>
              <a:rPr lang="en-US" sz="2200" dirty="0" err="1">
                <a:latin typeface="Calibri" pitchFamily="34" charset="0"/>
                <a:ea typeface="Calibri" pitchFamily="34" charset="-122"/>
                <a:cs typeface="Calibri" pitchFamily="34" charset="-120"/>
              </a:rPr>
              <a:t>Analysing</a:t>
            </a:r>
            <a:r>
              <a:rPr lang="en-US" sz="2200" dirty="0">
                <a:latin typeface="Calibri" pitchFamily="34" charset="0"/>
                <a:ea typeface="Calibri" pitchFamily="34" charset="-122"/>
                <a:cs typeface="Calibri" pitchFamily="34" charset="-120"/>
              </a:rPr>
              <a:t> this dataset offers a realistic, finance-domain problem that combines numerical, categorical, and </a:t>
            </a:r>
            <a:r>
              <a:rPr lang="en-US" sz="2200" dirty="0" err="1">
                <a:latin typeface="Calibri" pitchFamily="34" charset="0"/>
                <a:ea typeface="Calibri" pitchFamily="34" charset="-122"/>
                <a:cs typeface="Calibri" pitchFamily="34" charset="-120"/>
              </a:rPr>
              <a:t>behavioural</a:t>
            </a:r>
            <a:r>
              <a:rPr lang="en-US" sz="2200" dirty="0">
                <a:latin typeface="Calibri" pitchFamily="34" charset="0"/>
                <a:ea typeface="Calibri" pitchFamily="34" charset="-122"/>
                <a:cs typeface="Calibri" pitchFamily="34" charset="-120"/>
              </a:rPr>
              <a:t> features — ideal for practicing end-to-end EDA techniques.</a:t>
            </a:r>
            <a:endParaRPr lang="en-US" sz="2200" dirty="0"/>
          </a:p>
        </p:txBody>
      </p:sp>
      <p:sp>
        <p:nvSpPr>
          <p:cNvPr id="4" name="TextBox 3">
            <a:extLst>
              <a:ext uri="{FF2B5EF4-FFF2-40B4-BE49-F238E27FC236}">
                <a16:creationId xmlns:a16="http://schemas.microsoft.com/office/drawing/2014/main" id="{C79BB824-5053-E288-2AD5-1699D10D5FB0}"/>
              </a:ext>
            </a:extLst>
          </p:cNvPr>
          <p:cNvSpPr txBox="1"/>
          <p:nvPr/>
        </p:nvSpPr>
        <p:spPr>
          <a:xfrm>
            <a:off x="1209367" y="3656498"/>
            <a:ext cx="9881419" cy="2405530"/>
          </a:xfrm>
          <a:prstGeom prst="rect">
            <a:avLst/>
          </a:prstGeom>
          <a:noFill/>
        </p:spPr>
        <p:txBody>
          <a:bodyPr wrap="square" rtlCol="0">
            <a:spAutoFit/>
          </a:bodyPr>
          <a:lstStyle/>
          <a:p>
            <a:pPr>
              <a:lnSpc>
                <a:spcPct val="115000"/>
              </a:lnSpc>
            </a:pPr>
            <a:r>
              <a:rPr lang="en-US" sz="2200" b="1" dirty="0">
                <a:latin typeface="Calibri" pitchFamily="34" charset="0"/>
                <a:ea typeface="Calibri" pitchFamily="34" charset="-122"/>
                <a:cs typeface="Calibri" pitchFamily="34" charset="-120"/>
              </a:rPr>
              <a:t>Relevance to Domain &amp; Interest:</a:t>
            </a:r>
          </a:p>
          <a:p>
            <a:pPr algn="just">
              <a:lnSpc>
                <a:spcPct val="115000"/>
              </a:lnSpc>
            </a:pPr>
            <a:r>
              <a:rPr lang="en-US" sz="2200" dirty="0">
                <a:solidFill>
                  <a:srgbClr val="16213A"/>
                </a:solidFill>
                <a:latin typeface="Calibri" pitchFamily="34" charset="0"/>
                <a:ea typeface="Calibri" pitchFamily="34" charset="-122"/>
                <a:cs typeface="Calibri" pitchFamily="34" charset="-120"/>
              </a:rPr>
              <a:t>As a Computer Science student, building strong data analysis skills is essential for roles in data science and analytics. Credit risk modelling connects technical skills (Python, statistics, visualization) with real-world business impact — helping lenders reduce default risk.</a:t>
            </a:r>
            <a:endParaRPr lang="en-US" sz="2200" dirty="0"/>
          </a:p>
          <a:p>
            <a:pPr>
              <a:lnSpc>
                <a:spcPct val="115000"/>
              </a:lnSpc>
            </a:pPr>
            <a:endParaRPr lang="en-US" sz="2200" dirty="0"/>
          </a:p>
        </p:txBody>
      </p:sp>
      <p:sp>
        <p:nvSpPr>
          <p:cNvPr id="5" name="Freeform 3">
            <a:extLst>
              <a:ext uri="{FF2B5EF4-FFF2-40B4-BE49-F238E27FC236}">
                <a16:creationId xmlns:a16="http://schemas.microsoft.com/office/drawing/2014/main" id="{54F97953-5703-BA2F-534A-0AC5CE798550}"/>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Tree>
    <p:extLst>
      <p:ext uri="{BB962C8B-B14F-4D97-AF65-F5344CB8AC3E}">
        <p14:creationId xmlns:p14="http://schemas.microsoft.com/office/powerpoint/2010/main" val="976395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74D5B2-B164-F18E-86A8-BC95C5F1A5AE}"/>
              </a:ext>
            </a:extLst>
          </p:cNvPr>
          <p:cNvSpPr txBox="1"/>
          <p:nvPr/>
        </p:nvSpPr>
        <p:spPr>
          <a:xfrm>
            <a:off x="0" y="354313"/>
            <a:ext cx="12192000" cy="830997"/>
          </a:xfrm>
          <a:prstGeom prst="rect">
            <a:avLst/>
          </a:prstGeom>
          <a:noFill/>
        </p:spPr>
        <p:txBody>
          <a:bodyPr wrap="square" rtlCol="0">
            <a:spAutoFit/>
          </a:bodyPr>
          <a:lstStyle/>
          <a:p>
            <a:pPr algn="ctr"/>
            <a:r>
              <a:rPr lang="en-IN" sz="3000" b="1" dirty="0">
                <a:solidFill>
                  <a:srgbClr val="FF0000"/>
                </a:solidFill>
                <a:latin typeface="Times New Roman"/>
                <a:ea typeface="Calibri" panose="020F0502020204030204" pitchFamily="34" charset="0"/>
                <a:cs typeface="Times New Roman"/>
              </a:rPr>
              <a:t>About the Dataset</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70D6F49E-C02F-FCF0-8859-3AE94A5AB789}"/>
              </a:ext>
            </a:extLst>
          </p:cNvPr>
          <p:cNvSpPr txBox="1"/>
          <p:nvPr/>
        </p:nvSpPr>
        <p:spPr>
          <a:xfrm>
            <a:off x="1256071" y="1174095"/>
            <a:ext cx="9679857" cy="2074029"/>
          </a:xfrm>
          <a:prstGeom prst="rect">
            <a:avLst/>
          </a:prstGeom>
          <a:noFill/>
        </p:spPr>
        <p:txBody>
          <a:bodyPr wrap="square" rtlCol="0">
            <a:spAutoFit/>
          </a:bodyPr>
          <a:lstStyle/>
          <a:p>
            <a:pPr algn="just">
              <a:lnSpc>
                <a:spcPct val="150000"/>
              </a:lnSpc>
            </a:pPr>
            <a:r>
              <a:rPr lang="en-US" sz="2200" dirty="0">
                <a:solidFill>
                  <a:srgbClr val="16213A"/>
                </a:solidFill>
                <a:latin typeface="Calibri" pitchFamily="34" charset="0"/>
                <a:ea typeface="Calibri" pitchFamily="34" charset="-122"/>
                <a:cs typeface="Calibri" pitchFamily="34" charset="-120"/>
              </a:rPr>
              <a:t>The Credit Risk dataset contains demographic, financial, and loan-related information for individual borrowers. It captures attributes such as age, income, employment length, home ownership, loan amount, interest rate, loan intent, loan grade, and credit history length, along with the final loan status outcome.</a:t>
            </a:r>
            <a:endParaRPr lang="en-US" sz="2200" dirty="0"/>
          </a:p>
        </p:txBody>
      </p:sp>
      <p:sp>
        <p:nvSpPr>
          <p:cNvPr id="6" name="TextBox 5">
            <a:extLst>
              <a:ext uri="{FF2B5EF4-FFF2-40B4-BE49-F238E27FC236}">
                <a16:creationId xmlns:a16="http://schemas.microsoft.com/office/drawing/2014/main" id="{31438D96-E944-DA5E-271C-95A49637C197}"/>
              </a:ext>
            </a:extLst>
          </p:cNvPr>
          <p:cNvSpPr txBox="1"/>
          <p:nvPr/>
        </p:nvSpPr>
        <p:spPr>
          <a:xfrm>
            <a:off x="1256071" y="3754820"/>
            <a:ext cx="4770752" cy="458844"/>
          </a:xfrm>
          <a:prstGeom prst="rect">
            <a:avLst/>
          </a:prstGeom>
          <a:noFill/>
        </p:spPr>
        <p:txBody>
          <a:bodyPr wrap="square" rtlCol="0">
            <a:spAutoFit/>
          </a:bodyPr>
          <a:lstStyle/>
          <a:p>
            <a:pPr>
              <a:lnSpc>
                <a:spcPct val="115000"/>
              </a:lnSpc>
            </a:pPr>
            <a:r>
              <a:rPr lang="en-US" sz="2200" b="1" dirty="0">
                <a:solidFill>
                  <a:srgbClr val="16213A"/>
                </a:solidFill>
                <a:latin typeface="Calibri" pitchFamily="34" charset="0"/>
                <a:ea typeface="Calibri" pitchFamily="34" charset="-122"/>
                <a:cs typeface="Calibri" pitchFamily="34" charset="-120"/>
              </a:rPr>
              <a:t>Source: </a:t>
            </a:r>
            <a:r>
              <a:rPr lang="en-US" sz="2200" dirty="0">
                <a:solidFill>
                  <a:srgbClr val="16213A"/>
                </a:solidFill>
                <a:latin typeface="Calibri" pitchFamily="34" charset="0"/>
                <a:ea typeface="Calibri" pitchFamily="34" charset="-122"/>
                <a:cs typeface="Calibri" pitchFamily="34" charset="-120"/>
                <a:hlinkClick r:id="rId2"/>
              </a:rPr>
              <a:t>Kaggle</a:t>
            </a:r>
            <a:endParaRPr lang="en-US" sz="2200" dirty="0"/>
          </a:p>
        </p:txBody>
      </p:sp>
      <p:sp>
        <p:nvSpPr>
          <p:cNvPr id="7" name="TextBox 6">
            <a:extLst>
              <a:ext uri="{FF2B5EF4-FFF2-40B4-BE49-F238E27FC236}">
                <a16:creationId xmlns:a16="http://schemas.microsoft.com/office/drawing/2014/main" id="{0F515BC2-495F-7514-2BF1-00D642F2DD2F}"/>
              </a:ext>
            </a:extLst>
          </p:cNvPr>
          <p:cNvSpPr txBox="1"/>
          <p:nvPr/>
        </p:nvSpPr>
        <p:spPr>
          <a:xfrm>
            <a:off x="6503336" y="3656498"/>
            <a:ext cx="4770752" cy="2074029"/>
          </a:xfrm>
          <a:prstGeom prst="rect">
            <a:avLst/>
          </a:prstGeom>
          <a:noFill/>
        </p:spPr>
        <p:txBody>
          <a:bodyPr wrap="square" rtlCol="0">
            <a:spAutoFit/>
          </a:bodyPr>
          <a:lstStyle/>
          <a:p>
            <a:pPr algn="just">
              <a:lnSpc>
                <a:spcPct val="150000"/>
              </a:lnSpc>
            </a:pPr>
            <a:r>
              <a:rPr lang="en-US" sz="2200" b="1" dirty="0">
                <a:solidFill>
                  <a:srgbClr val="16213A"/>
                </a:solidFill>
                <a:latin typeface="Calibri" pitchFamily="34" charset="0"/>
                <a:ea typeface="Calibri" pitchFamily="34" charset="-122"/>
                <a:cs typeface="Calibri" pitchFamily="34" charset="-120"/>
              </a:rPr>
              <a:t>Scale: </a:t>
            </a:r>
          </a:p>
          <a:p>
            <a:pPr algn="just">
              <a:lnSpc>
                <a:spcPct val="150000"/>
              </a:lnSpc>
            </a:pPr>
            <a:r>
              <a:rPr lang="en-US" sz="2200" dirty="0">
                <a:solidFill>
                  <a:srgbClr val="16213A"/>
                </a:solidFill>
                <a:latin typeface="Calibri" pitchFamily="34" charset="0"/>
                <a:ea typeface="Calibri" pitchFamily="34" charset="-122"/>
                <a:cs typeface="Calibri" pitchFamily="34" charset="-120"/>
              </a:rPr>
              <a:t>32,581 records</a:t>
            </a:r>
            <a:endParaRPr lang="en-US" sz="2200" dirty="0"/>
          </a:p>
          <a:p>
            <a:pPr algn="just">
              <a:lnSpc>
                <a:spcPct val="150000"/>
              </a:lnSpc>
            </a:pPr>
            <a:r>
              <a:rPr lang="en-US" sz="2200" dirty="0">
                <a:solidFill>
                  <a:srgbClr val="16213A"/>
                </a:solidFill>
                <a:latin typeface="Calibri" pitchFamily="34" charset="0"/>
                <a:ea typeface="Calibri" pitchFamily="34" charset="-122"/>
                <a:cs typeface="Calibri" pitchFamily="34" charset="-120"/>
              </a:rPr>
              <a:t>12 columns</a:t>
            </a:r>
            <a:endParaRPr lang="en-US" sz="2200" dirty="0"/>
          </a:p>
          <a:p>
            <a:pPr algn="just">
              <a:lnSpc>
                <a:spcPct val="150000"/>
              </a:lnSpc>
            </a:pPr>
            <a:r>
              <a:rPr lang="en-US" sz="2200" dirty="0">
                <a:solidFill>
                  <a:srgbClr val="16213A"/>
                </a:solidFill>
                <a:latin typeface="Calibri" pitchFamily="34" charset="0"/>
                <a:ea typeface="Calibri" pitchFamily="34" charset="-122"/>
                <a:cs typeface="Calibri" pitchFamily="34" charset="-120"/>
              </a:rPr>
              <a:t>Mix of numerical &amp; categorical features</a:t>
            </a:r>
            <a:endParaRPr lang="en-US" sz="2200" dirty="0"/>
          </a:p>
        </p:txBody>
      </p:sp>
      <p:sp>
        <p:nvSpPr>
          <p:cNvPr id="3" name="Freeform 3">
            <a:extLst>
              <a:ext uri="{FF2B5EF4-FFF2-40B4-BE49-F238E27FC236}">
                <a16:creationId xmlns:a16="http://schemas.microsoft.com/office/drawing/2014/main" id="{D763EDDD-AB76-93A7-B612-F5B939C35FC1}"/>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753925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0">
            <a:extLst>
              <a:ext uri="{FF2B5EF4-FFF2-40B4-BE49-F238E27FC236}">
                <a16:creationId xmlns:a16="http://schemas.microsoft.com/office/drawing/2014/main" id="{39D45444-7112-28E6-A611-B2CDFF6020E6}"/>
              </a:ext>
            </a:extLst>
          </p:cNvPr>
          <p:cNvGraphicFramePr>
            <a:graphicFrameLocks noGrp="1"/>
          </p:cNvGraphicFramePr>
          <p:nvPr>
            <p:extLst>
              <p:ext uri="{D42A27DB-BD31-4B8C-83A1-F6EECF244321}">
                <p14:modId xmlns:p14="http://schemas.microsoft.com/office/powerpoint/2010/main" val="3194269665"/>
              </p:ext>
            </p:extLst>
          </p:nvPr>
        </p:nvGraphicFramePr>
        <p:xfrm>
          <a:off x="1258037" y="1185310"/>
          <a:ext cx="9675925" cy="4851700"/>
        </p:xfrm>
        <a:graphic>
          <a:graphicData uri="http://schemas.openxmlformats.org/drawingml/2006/table">
            <a:tbl>
              <a:tblPr/>
              <a:tblGrid>
                <a:gridCol w="3598485">
                  <a:extLst>
                    <a:ext uri="{9D8B030D-6E8A-4147-A177-3AD203B41FA5}">
                      <a16:colId xmlns:a16="http://schemas.microsoft.com/office/drawing/2014/main" val="20000"/>
                    </a:ext>
                  </a:extLst>
                </a:gridCol>
                <a:gridCol w="6077440">
                  <a:extLst>
                    <a:ext uri="{9D8B030D-6E8A-4147-A177-3AD203B41FA5}">
                      <a16:colId xmlns:a16="http://schemas.microsoft.com/office/drawing/2014/main" val="20001"/>
                    </a:ext>
                  </a:extLst>
                </a:gridCol>
              </a:tblGrid>
              <a:tr h="48517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Column</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1F3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Description</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01F3C"/>
                    </a:solidFill>
                  </a:tcPr>
                </a:tc>
                <a:extLst>
                  <a:ext uri="{0D108BD9-81ED-4DB2-BD59-A6C34878D82A}">
                    <a16:rowId xmlns:a16="http://schemas.microsoft.com/office/drawing/2014/main" val="10000"/>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person_age / person_income</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Borrower's age and annual income</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person_home_ownership</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Housing status: RENT, OWN, MORTGAGE, OTHER</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person_emp_length</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Years of employment</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loan_intent</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Purpose of the loan (education, medical, etc.)</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loan_grade</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Credit grade assigned (A–G)</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loan_amnt / loan_int_rate</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Loan amount requested and interest rate</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loan_percent_income</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Loan amount as % of income</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cb_person_default_on_file</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Prior default on record (Yes/No)</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85170">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cb_person_cred_hist_length</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None/>
                      </a:pPr>
                      <a:r>
                        <a:rPr lang="en-US" sz="1250" dirty="0">
                          <a:solidFill>
                            <a:srgbClr val="16213A"/>
                          </a:solidFill>
                          <a:latin typeface="Calibri" pitchFamily="34" charset="0"/>
                          <a:ea typeface="Calibri" pitchFamily="34" charset="-122"/>
                          <a:cs typeface="Calibri" pitchFamily="34" charset="-120"/>
                        </a:rPr>
                        <a:t>Length of credit history (years)</a:t>
                      </a:r>
                      <a:endParaRPr lang="en-US" sz="125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3" name="TextBox 2">
            <a:extLst>
              <a:ext uri="{FF2B5EF4-FFF2-40B4-BE49-F238E27FC236}">
                <a16:creationId xmlns:a16="http://schemas.microsoft.com/office/drawing/2014/main" id="{0D6551DD-2382-76F8-437E-3665390C1D24}"/>
              </a:ext>
            </a:extLst>
          </p:cNvPr>
          <p:cNvSpPr txBox="1"/>
          <p:nvPr/>
        </p:nvSpPr>
        <p:spPr>
          <a:xfrm>
            <a:off x="226142" y="354313"/>
            <a:ext cx="12192000" cy="830997"/>
          </a:xfrm>
          <a:prstGeom prst="rect">
            <a:avLst/>
          </a:prstGeom>
          <a:noFill/>
        </p:spPr>
        <p:txBody>
          <a:bodyPr wrap="square" rtlCol="0">
            <a:spAutoFit/>
          </a:bodyPr>
          <a:lstStyle/>
          <a:p>
            <a:pPr algn="ctr"/>
            <a:r>
              <a:rPr lang="en-IN" sz="3000" b="1" dirty="0">
                <a:solidFill>
                  <a:srgbClr val="FF0000"/>
                </a:solidFill>
                <a:latin typeface="Times New Roman"/>
                <a:ea typeface="Calibri" panose="020F0502020204030204" pitchFamily="34" charset="0"/>
                <a:cs typeface="Times New Roman"/>
              </a:rPr>
              <a:t>Column Overview</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Freeform 3">
            <a:extLst>
              <a:ext uri="{FF2B5EF4-FFF2-40B4-BE49-F238E27FC236}">
                <a16:creationId xmlns:a16="http://schemas.microsoft.com/office/drawing/2014/main" id="{7EC88611-04E6-42BC-6F84-B59B4BB25A5C}"/>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2"/>
            <a:stretch>
              <a:fillRect b="3"/>
            </a:stretch>
          </a:blipFill>
        </p:spPr>
        <p:txBody>
          <a:bodyPr/>
          <a:lstStyle/>
          <a:p>
            <a:endParaRPr lang="en-IN"/>
          </a:p>
        </p:txBody>
      </p:sp>
    </p:spTree>
    <p:extLst>
      <p:ext uri="{BB962C8B-B14F-4D97-AF65-F5344CB8AC3E}">
        <p14:creationId xmlns:p14="http://schemas.microsoft.com/office/powerpoint/2010/main" val="587278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921FA7-5C9E-4EA2-CE2E-34D9A2748981}"/>
              </a:ext>
            </a:extLst>
          </p:cNvPr>
          <p:cNvPicPr>
            <a:picLocks noChangeAspect="1"/>
          </p:cNvPicPr>
          <p:nvPr/>
        </p:nvPicPr>
        <p:blipFill>
          <a:blip r:embed="rId2"/>
          <a:stretch>
            <a:fillRect/>
          </a:stretch>
        </p:blipFill>
        <p:spPr>
          <a:xfrm>
            <a:off x="1218586" y="311285"/>
            <a:ext cx="9891866" cy="5808407"/>
          </a:xfrm>
          <a:prstGeom prst="rect">
            <a:avLst/>
          </a:prstGeom>
        </p:spPr>
      </p:pic>
      <p:sp>
        <p:nvSpPr>
          <p:cNvPr id="2" name="Freeform 3">
            <a:extLst>
              <a:ext uri="{FF2B5EF4-FFF2-40B4-BE49-F238E27FC236}">
                <a16:creationId xmlns:a16="http://schemas.microsoft.com/office/drawing/2014/main" id="{6101C5D3-BC98-3648-B684-8A6076D01647}"/>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464140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nb_images/cell_13.png">
            <a:extLst>
              <a:ext uri="{FF2B5EF4-FFF2-40B4-BE49-F238E27FC236}">
                <a16:creationId xmlns:a16="http://schemas.microsoft.com/office/drawing/2014/main" id="{2778018D-1F44-0AEA-2F86-2E1C8F1B123F}"/>
              </a:ext>
            </a:extLst>
          </p:cNvPr>
          <p:cNvPicPr>
            <a:picLocks noChangeAspect="1"/>
          </p:cNvPicPr>
          <p:nvPr/>
        </p:nvPicPr>
        <p:blipFill>
          <a:blip r:embed="rId2"/>
          <a:stretch>
            <a:fillRect/>
          </a:stretch>
        </p:blipFill>
        <p:spPr>
          <a:xfrm>
            <a:off x="594230" y="1290055"/>
            <a:ext cx="4174413" cy="47248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511D77B1-C4CB-134B-C946-E902AC227434}"/>
              </a:ext>
            </a:extLst>
          </p:cNvPr>
          <p:cNvSpPr txBox="1"/>
          <p:nvPr/>
        </p:nvSpPr>
        <p:spPr>
          <a:xfrm>
            <a:off x="5102943" y="1290055"/>
            <a:ext cx="6494827" cy="5100884"/>
          </a:xfrm>
          <a:prstGeom prst="rect">
            <a:avLst/>
          </a:prstGeom>
          <a:noFill/>
        </p:spPr>
        <p:txBody>
          <a:bodyPr wrap="square" rtlCol="0">
            <a:spAutoFit/>
          </a:bodyPr>
          <a:lstStyle/>
          <a:p>
            <a:pPr algn="just">
              <a:lnSpc>
                <a:spcPct val="115000"/>
              </a:lnSpc>
            </a:pPr>
            <a:r>
              <a:rPr lang="en-US" sz="2400" dirty="0">
                <a:solidFill>
                  <a:srgbClr val="16213A"/>
                </a:solidFill>
                <a:latin typeface="Calibri" pitchFamily="34" charset="0"/>
                <a:ea typeface="Calibri" pitchFamily="34" charset="-122"/>
                <a:cs typeface="Calibri" pitchFamily="34" charset="-120"/>
              </a:rPr>
              <a:t>Missing value heatmap shows gaps in two columns:</a:t>
            </a:r>
            <a:endParaRPr lang="en-US" sz="2400" dirty="0"/>
          </a:p>
          <a:p>
            <a:pPr algn="just">
              <a:lnSpc>
                <a:spcPct val="115000"/>
              </a:lnSpc>
            </a:pPr>
            <a:r>
              <a:rPr lang="en-US" sz="2400" dirty="0">
                <a:solidFill>
                  <a:srgbClr val="16213A"/>
                </a:solidFill>
                <a:latin typeface="Calibri" pitchFamily="34" charset="0"/>
                <a:ea typeface="Calibri" pitchFamily="34" charset="-122"/>
                <a:cs typeface="Calibri" pitchFamily="34" charset="-120"/>
              </a:rPr>
              <a:t>• </a:t>
            </a:r>
            <a:r>
              <a:rPr lang="en-US" sz="2400" dirty="0" err="1">
                <a:solidFill>
                  <a:srgbClr val="16213A"/>
                </a:solidFill>
                <a:latin typeface="Calibri" pitchFamily="34" charset="0"/>
                <a:ea typeface="Calibri" pitchFamily="34" charset="-122"/>
                <a:cs typeface="Calibri" pitchFamily="34" charset="-120"/>
              </a:rPr>
              <a:t>person_emp_length</a:t>
            </a:r>
            <a:r>
              <a:rPr lang="en-US" sz="2400" dirty="0">
                <a:solidFill>
                  <a:srgbClr val="16213A"/>
                </a:solidFill>
                <a:latin typeface="Calibri" pitchFamily="34" charset="0"/>
                <a:ea typeface="Calibri" pitchFamily="34" charset="-122"/>
                <a:cs typeface="Calibri" pitchFamily="34" charset="-120"/>
              </a:rPr>
              <a:t> — 895 missing values</a:t>
            </a:r>
            <a:endParaRPr lang="en-US" sz="2400" dirty="0"/>
          </a:p>
          <a:p>
            <a:pPr algn="just">
              <a:lnSpc>
                <a:spcPct val="115000"/>
              </a:lnSpc>
            </a:pPr>
            <a:r>
              <a:rPr lang="en-US" sz="2400" dirty="0">
                <a:solidFill>
                  <a:srgbClr val="16213A"/>
                </a:solidFill>
                <a:latin typeface="Calibri" pitchFamily="34" charset="0"/>
                <a:ea typeface="Calibri" pitchFamily="34" charset="-122"/>
                <a:cs typeface="Calibri" pitchFamily="34" charset="-120"/>
              </a:rPr>
              <a:t>• </a:t>
            </a:r>
            <a:r>
              <a:rPr lang="en-US" sz="2400" dirty="0" err="1">
                <a:solidFill>
                  <a:srgbClr val="16213A"/>
                </a:solidFill>
                <a:latin typeface="Calibri" pitchFamily="34" charset="0"/>
                <a:ea typeface="Calibri" pitchFamily="34" charset="-122"/>
                <a:cs typeface="Calibri" pitchFamily="34" charset="-120"/>
              </a:rPr>
              <a:t>loan_int_rate</a:t>
            </a:r>
            <a:r>
              <a:rPr lang="en-US" sz="2400" dirty="0">
                <a:solidFill>
                  <a:srgbClr val="16213A"/>
                </a:solidFill>
                <a:latin typeface="Calibri" pitchFamily="34" charset="0"/>
                <a:ea typeface="Calibri" pitchFamily="34" charset="-122"/>
                <a:cs typeface="Calibri" pitchFamily="34" charset="-120"/>
              </a:rPr>
              <a:t> — 3,116 missing values</a:t>
            </a:r>
            <a:endParaRPr lang="en-US" sz="2400" dirty="0"/>
          </a:p>
          <a:p>
            <a:pPr algn="just">
              <a:lnSpc>
                <a:spcPct val="115000"/>
              </a:lnSpc>
            </a:pPr>
            <a:r>
              <a:rPr lang="en-US" sz="2400" dirty="0">
                <a:solidFill>
                  <a:srgbClr val="16213A"/>
                </a:solidFill>
                <a:latin typeface="Calibri" pitchFamily="34" charset="0"/>
                <a:ea typeface="Calibri" pitchFamily="34" charset="-122"/>
                <a:cs typeface="Calibri" pitchFamily="34" charset="-120"/>
              </a:rPr>
              <a:t>All other columns are complete.</a:t>
            </a:r>
            <a:endParaRPr lang="en-US" sz="2400" dirty="0"/>
          </a:p>
          <a:p>
            <a:pPr algn="just">
              <a:lnSpc>
                <a:spcPct val="115000"/>
              </a:lnSpc>
            </a:pPr>
            <a:endParaRPr lang="en-US" sz="2400" dirty="0"/>
          </a:p>
          <a:p>
            <a:pPr algn="just">
              <a:lnSpc>
                <a:spcPct val="115000"/>
              </a:lnSpc>
            </a:pPr>
            <a:r>
              <a:rPr lang="en-US" sz="2400" dirty="0">
                <a:solidFill>
                  <a:srgbClr val="16213A"/>
                </a:solidFill>
                <a:latin typeface="Calibri" pitchFamily="34" charset="0"/>
                <a:ea typeface="Calibri" pitchFamily="34" charset="-122"/>
                <a:cs typeface="Calibri" pitchFamily="34" charset="-120"/>
              </a:rPr>
              <a:t>Both columns were imputed using the median, since the underlying distributions contain outliers and the median is more robust than the mean to skew. This kept the dataset clean without distorting its distribution.</a:t>
            </a:r>
            <a:endParaRPr lang="en-US" sz="2400" dirty="0"/>
          </a:p>
          <a:p>
            <a:pPr>
              <a:lnSpc>
                <a:spcPct val="115000"/>
              </a:lnSpc>
            </a:pPr>
            <a:endParaRPr lang="en-US" sz="2000" dirty="0"/>
          </a:p>
        </p:txBody>
      </p:sp>
      <p:sp>
        <p:nvSpPr>
          <p:cNvPr id="4" name="TextBox 3">
            <a:extLst>
              <a:ext uri="{FF2B5EF4-FFF2-40B4-BE49-F238E27FC236}">
                <a16:creationId xmlns:a16="http://schemas.microsoft.com/office/drawing/2014/main" id="{CEBDFE53-C8A5-7FD0-59B7-6F9DBBC258C1}"/>
              </a:ext>
            </a:extLst>
          </p:cNvPr>
          <p:cNvSpPr txBox="1"/>
          <p:nvPr/>
        </p:nvSpPr>
        <p:spPr>
          <a:xfrm>
            <a:off x="226142" y="354313"/>
            <a:ext cx="12192000" cy="830997"/>
          </a:xfrm>
          <a:prstGeom prst="rect">
            <a:avLst/>
          </a:prstGeom>
          <a:noFill/>
        </p:spPr>
        <p:txBody>
          <a:bodyPr wrap="square" rtlCol="0">
            <a:spAutoFit/>
          </a:bodyPr>
          <a:lstStyle/>
          <a:p>
            <a:pPr algn="ctr"/>
            <a:r>
              <a:rPr lang="en-IN" sz="3000" b="1" dirty="0">
                <a:solidFill>
                  <a:srgbClr val="FF0000"/>
                </a:solidFill>
                <a:latin typeface="Times New Roman"/>
                <a:ea typeface="Calibri" panose="020F0502020204030204" pitchFamily="34" charset="0"/>
                <a:cs typeface="Times New Roman"/>
              </a:rPr>
              <a:t>Missing Value Treatment</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5" name="Freeform 3">
            <a:extLst>
              <a:ext uri="{FF2B5EF4-FFF2-40B4-BE49-F238E27FC236}">
                <a16:creationId xmlns:a16="http://schemas.microsoft.com/office/drawing/2014/main" id="{51FD32EC-2A4F-4BE5-CFCE-741DD3F2C7B3}"/>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3760812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ABA90B-1B15-27B9-9F52-781A1D2439B7}"/>
              </a:ext>
            </a:extLst>
          </p:cNvPr>
          <p:cNvSpPr txBox="1"/>
          <p:nvPr/>
        </p:nvSpPr>
        <p:spPr>
          <a:xfrm>
            <a:off x="226142" y="354313"/>
            <a:ext cx="12192000" cy="830997"/>
          </a:xfrm>
          <a:prstGeom prst="rect">
            <a:avLst/>
          </a:prstGeom>
          <a:noFill/>
        </p:spPr>
        <p:txBody>
          <a:bodyPr wrap="square" rtlCol="0">
            <a:spAutoFit/>
          </a:bodyPr>
          <a:lstStyle/>
          <a:p>
            <a:pPr algn="ctr"/>
            <a:r>
              <a:rPr lang="en-IN" sz="3000" b="1" dirty="0">
                <a:solidFill>
                  <a:srgbClr val="FF0000"/>
                </a:solidFill>
                <a:latin typeface="Times New Roman"/>
                <a:ea typeface="Calibri" panose="020F0502020204030204" pitchFamily="34" charset="0"/>
                <a:cs typeface="Times New Roman"/>
              </a:rPr>
              <a:t>Duplicates &amp; Outlier Treatment</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3" name="Image 0" descr="/home/claude/nb_images/cell_47.png">
            <a:extLst>
              <a:ext uri="{FF2B5EF4-FFF2-40B4-BE49-F238E27FC236}">
                <a16:creationId xmlns:a16="http://schemas.microsoft.com/office/drawing/2014/main" id="{5A65D1EE-1506-47C4-FDB8-6C3B5CDA8D8B}"/>
              </a:ext>
            </a:extLst>
          </p:cNvPr>
          <p:cNvPicPr>
            <a:picLocks noChangeAspect="1"/>
          </p:cNvPicPr>
          <p:nvPr/>
        </p:nvPicPr>
        <p:blipFill>
          <a:blip r:embed="rId2"/>
          <a:stretch>
            <a:fillRect/>
          </a:stretch>
        </p:blipFill>
        <p:spPr>
          <a:xfrm>
            <a:off x="7226710" y="1471398"/>
            <a:ext cx="4266953" cy="44485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450D1572-E3A0-6AF0-44C4-BB9D272A7129}"/>
              </a:ext>
            </a:extLst>
          </p:cNvPr>
          <p:cNvSpPr txBox="1"/>
          <p:nvPr/>
        </p:nvSpPr>
        <p:spPr>
          <a:xfrm>
            <a:off x="924233" y="1185310"/>
            <a:ext cx="5869858" cy="1907895"/>
          </a:xfrm>
          <a:prstGeom prst="rect">
            <a:avLst/>
          </a:prstGeom>
          <a:noFill/>
        </p:spPr>
        <p:txBody>
          <a:bodyPr wrap="square" rtlCol="0">
            <a:spAutoFit/>
          </a:bodyPr>
          <a:lstStyle/>
          <a:p>
            <a:pPr algn="just">
              <a:lnSpc>
                <a:spcPct val="115000"/>
              </a:lnSpc>
            </a:pPr>
            <a:r>
              <a:rPr lang="en-US" sz="2000" b="1" dirty="0">
                <a:solidFill>
                  <a:srgbClr val="16213A"/>
                </a:solidFill>
                <a:latin typeface="Calibri" pitchFamily="34" charset="0"/>
                <a:ea typeface="Calibri" pitchFamily="34" charset="-122"/>
                <a:cs typeface="Calibri" pitchFamily="34" charset="-120"/>
              </a:rPr>
              <a:t>Duplicates: </a:t>
            </a:r>
          </a:p>
          <a:p>
            <a:pPr algn="just">
              <a:lnSpc>
                <a:spcPct val="115000"/>
              </a:lnSpc>
            </a:pPr>
            <a:r>
              <a:rPr lang="en-US" sz="2000" dirty="0">
                <a:solidFill>
                  <a:srgbClr val="16213A"/>
                </a:solidFill>
                <a:latin typeface="Calibri" pitchFamily="34" charset="0"/>
                <a:ea typeface="Calibri" pitchFamily="34" charset="-122"/>
                <a:cs typeface="Calibri" pitchFamily="34" charset="-120"/>
              </a:rPr>
              <a:t>165 duplicate records were detected and removed. Duplicate rows can bias statistical summaries and visualizations, so each remaining record now represents a unique observation</a:t>
            </a:r>
            <a:r>
              <a:rPr lang="en-US" sz="2400" dirty="0">
                <a:solidFill>
                  <a:srgbClr val="16213A"/>
                </a:solidFill>
                <a:latin typeface="Calibri" pitchFamily="34" charset="0"/>
                <a:ea typeface="Calibri" pitchFamily="34" charset="-122"/>
                <a:cs typeface="Calibri" pitchFamily="34" charset="-120"/>
              </a:rPr>
              <a:t>.</a:t>
            </a:r>
            <a:endParaRPr lang="en-US" sz="2400" dirty="0"/>
          </a:p>
        </p:txBody>
      </p:sp>
      <p:sp>
        <p:nvSpPr>
          <p:cNvPr id="6" name="TextBox 5">
            <a:extLst>
              <a:ext uri="{FF2B5EF4-FFF2-40B4-BE49-F238E27FC236}">
                <a16:creationId xmlns:a16="http://schemas.microsoft.com/office/drawing/2014/main" id="{88BD3570-6CAE-A878-95DD-A474AA939C5C}"/>
              </a:ext>
            </a:extLst>
          </p:cNvPr>
          <p:cNvSpPr txBox="1"/>
          <p:nvPr/>
        </p:nvSpPr>
        <p:spPr>
          <a:xfrm>
            <a:off x="924233" y="3498562"/>
            <a:ext cx="5869857" cy="2551724"/>
          </a:xfrm>
          <a:prstGeom prst="rect">
            <a:avLst/>
          </a:prstGeom>
          <a:noFill/>
        </p:spPr>
        <p:txBody>
          <a:bodyPr wrap="square" rtlCol="0">
            <a:spAutoFit/>
          </a:bodyPr>
          <a:lstStyle/>
          <a:p>
            <a:pPr algn="just">
              <a:lnSpc>
                <a:spcPct val="115000"/>
              </a:lnSpc>
            </a:pPr>
            <a:r>
              <a:rPr lang="en-US" sz="2000" b="1" dirty="0">
                <a:solidFill>
                  <a:srgbClr val="16213A"/>
                </a:solidFill>
                <a:latin typeface="Calibri" pitchFamily="34" charset="0"/>
                <a:ea typeface="Calibri" pitchFamily="34" charset="-122"/>
                <a:cs typeface="Calibri" pitchFamily="34" charset="-120"/>
              </a:rPr>
              <a:t>Outlier Treatment: </a:t>
            </a:r>
          </a:p>
          <a:p>
            <a:pPr algn="just">
              <a:lnSpc>
                <a:spcPct val="115000"/>
              </a:lnSpc>
            </a:pPr>
            <a:r>
              <a:rPr lang="en-US" sz="2000" dirty="0">
                <a:solidFill>
                  <a:srgbClr val="16213A"/>
                </a:solidFill>
                <a:latin typeface="Calibri" pitchFamily="34" charset="0"/>
                <a:ea typeface="Calibri" pitchFamily="34" charset="-122"/>
                <a:cs typeface="Calibri" pitchFamily="34" charset="-120"/>
              </a:rPr>
              <a:t>Outliers in </a:t>
            </a:r>
            <a:r>
              <a:rPr lang="en-US" sz="2000" dirty="0" err="1">
                <a:solidFill>
                  <a:srgbClr val="16213A"/>
                </a:solidFill>
                <a:latin typeface="Calibri" pitchFamily="34" charset="0"/>
                <a:ea typeface="Calibri" pitchFamily="34" charset="-122"/>
                <a:cs typeface="Calibri" pitchFamily="34" charset="-120"/>
              </a:rPr>
              <a:t>person_age</a:t>
            </a:r>
            <a:r>
              <a:rPr lang="en-US" sz="2000" dirty="0">
                <a:solidFill>
                  <a:srgbClr val="16213A"/>
                </a:solidFill>
                <a:latin typeface="Calibri" pitchFamily="34" charset="0"/>
                <a:ea typeface="Calibri" pitchFamily="34" charset="-122"/>
                <a:cs typeface="Calibri" pitchFamily="34" charset="-120"/>
              </a:rPr>
              <a:t> were identified using the IQR method and removed (unrealistic ages). Financial variables — </a:t>
            </a:r>
            <a:r>
              <a:rPr lang="en-US" sz="2000" dirty="0" err="1">
                <a:solidFill>
                  <a:srgbClr val="16213A"/>
                </a:solidFill>
                <a:latin typeface="Calibri" pitchFamily="34" charset="0"/>
                <a:ea typeface="Calibri" pitchFamily="34" charset="-122"/>
                <a:cs typeface="Calibri" pitchFamily="34" charset="-120"/>
              </a:rPr>
              <a:t>person_income</a:t>
            </a:r>
            <a:r>
              <a:rPr lang="en-US" sz="2000" dirty="0">
                <a:solidFill>
                  <a:srgbClr val="16213A"/>
                </a:solidFill>
                <a:latin typeface="Calibri" pitchFamily="34" charset="0"/>
                <a:ea typeface="Calibri" pitchFamily="34" charset="-122"/>
                <a:cs typeface="Calibri" pitchFamily="34" charset="-120"/>
              </a:rPr>
              <a:t>, </a:t>
            </a:r>
            <a:r>
              <a:rPr lang="en-US" sz="2000" dirty="0" err="1">
                <a:solidFill>
                  <a:srgbClr val="16213A"/>
                </a:solidFill>
                <a:latin typeface="Calibri" pitchFamily="34" charset="0"/>
                <a:ea typeface="Calibri" pitchFamily="34" charset="-122"/>
                <a:cs typeface="Calibri" pitchFamily="34" charset="-120"/>
              </a:rPr>
              <a:t>loan_amnt</a:t>
            </a:r>
            <a:r>
              <a:rPr lang="en-US" sz="2000" dirty="0">
                <a:solidFill>
                  <a:srgbClr val="16213A"/>
                </a:solidFill>
                <a:latin typeface="Calibri" pitchFamily="34" charset="0"/>
                <a:ea typeface="Calibri" pitchFamily="34" charset="-122"/>
                <a:cs typeface="Calibri" pitchFamily="34" charset="-120"/>
              </a:rPr>
              <a:t>, </a:t>
            </a:r>
            <a:r>
              <a:rPr lang="en-US" sz="2000" dirty="0" err="1">
                <a:solidFill>
                  <a:srgbClr val="16213A"/>
                </a:solidFill>
                <a:latin typeface="Calibri" pitchFamily="34" charset="0"/>
                <a:ea typeface="Calibri" pitchFamily="34" charset="-122"/>
                <a:cs typeface="Calibri" pitchFamily="34" charset="-120"/>
              </a:rPr>
              <a:t>loan_int_rate</a:t>
            </a:r>
            <a:r>
              <a:rPr lang="en-US" sz="2000" dirty="0">
                <a:solidFill>
                  <a:srgbClr val="16213A"/>
                </a:solidFill>
                <a:latin typeface="Calibri" pitchFamily="34" charset="0"/>
                <a:ea typeface="Calibri" pitchFamily="34" charset="-122"/>
                <a:cs typeface="Calibri" pitchFamily="34" charset="-120"/>
              </a:rPr>
              <a:t> — were deliberately left untouched, as extreme values there likely reflect genuine high-income or high-value customers rather than data errors.</a:t>
            </a:r>
            <a:endParaRPr lang="en-US" sz="2000" dirty="0"/>
          </a:p>
        </p:txBody>
      </p:sp>
      <p:sp>
        <p:nvSpPr>
          <p:cNvPr id="5" name="Freeform 3">
            <a:extLst>
              <a:ext uri="{FF2B5EF4-FFF2-40B4-BE49-F238E27FC236}">
                <a16:creationId xmlns:a16="http://schemas.microsoft.com/office/drawing/2014/main" id="{9ABAEFE2-82B7-1099-6AE1-9622F0BDB2BA}"/>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1310300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A4EF16-92C4-1E14-DE95-A0D9F5B2C6B6}"/>
              </a:ext>
            </a:extLst>
          </p:cNvPr>
          <p:cNvSpPr txBox="1"/>
          <p:nvPr/>
        </p:nvSpPr>
        <p:spPr>
          <a:xfrm>
            <a:off x="0" y="322626"/>
            <a:ext cx="1219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Age &amp; Income Distribution </a:t>
            </a:r>
            <a:endParaRPr lang="en-IN"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03047A0C-E141-CE49-D38D-5A00E6FE3BA2}"/>
              </a:ext>
            </a:extLst>
          </p:cNvPr>
          <p:cNvSpPr txBox="1"/>
          <p:nvPr/>
        </p:nvSpPr>
        <p:spPr>
          <a:xfrm>
            <a:off x="1115082" y="4673142"/>
            <a:ext cx="9961835" cy="1446550"/>
          </a:xfrm>
          <a:prstGeom prst="rect">
            <a:avLst/>
          </a:prstGeom>
          <a:noFill/>
        </p:spPr>
        <p:txBody>
          <a:bodyPr wrap="square" rtlCol="0">
            <a:spAutoFit/>
          </a:bodyPr>
          <a:lstStyle/>
          <a:p>
            <a:pPr algn="just"/>
            <a:r>
              <a:rPr lang="en-US" sz="2200" b="1" dirty="0">
                <a:solidFill>
                  <a:srgbClr val="16213A"/>
                </a:solidFill>
                <a:latin typeface="Calibri" pitchFamily="34" charset="0"/>
                <a:ea typeface="Calibri" pitchFamily="34" charset="-122"/>
                <a:cs typeface="Calibri" pitchFamily="34" charset="-120"/>
              </a:rPr>
              <a:t>Age: </a:t>
            </a:r>
            <a:r>
              <a:rPr lang="en-US" sz="2200" dirty="0">
                <a:solidFill>
                  <a:srgbClr val="16213A"/>
                </a:solidFill>
                <a:latin typeface="Calibri" pitchFamily="34" charset="0"/>
                <a:ea typeface="Calibri" pitchFamily="34" charset="-122"/>
                <a:cs typeface="Calibri" pitchFamily="34" charset="-120"/>
              </a:rPr>
              <a:t>Most applicants are concentrated in young/middle-age groups; histogram used to study spread and skew.  </a:t>
            </a:r>
          </a:p>
          <a:p>
            <a:pPr algn="just"/>
            <a:r>
              <a:rPr lang="en-US" sz="2200" b="1" dirty="0">
                <a:solidFill>
                  <a:srgbClr val="16213A"/>
                </a:solidFill>
                <a:latin typeface="Calibri" pitchFamily="34" charset="0"/>
                <a:ea typeface="Calibri" pitchFamily="34" charset="-122"/>
                <a:cs typeface="Calibri" pitchFamily="34" charset="-120"/>
              </a:rPr>
              <a:t>Income: </a:t>
            </a:r>
            <a:r>
              <a:rPr lang="en-US" sz="2200" dirty="0">
                <a:solidFill>
                  <a:srgbClr val="16213A"/>
                </a:solidFill>
                <a:latin typeface="Calibri" pitchFamily="34" charset="0"/>
                <a:ea typeface="Calibri" pitchFamily="34" charset="-122"/>
                <a:cs typeface="Calibri" pitchFamily="34" charset="-120"/>
              </a:rPr>
              <a:t>Distribution is right-skewed — a small group of high-income earners pulls the tail.</a:t>
            </a:r>
            <a:endParaRPr lang="en-US" sz="2200" dirty="0"/>
          </a:p>
        </p:txBody>
      </p:sp>
      <p:pic>
        <p:nvPicPr>
          <p:cNvPr id="3" name="Image 0">
            <a:extLst>
              <a:ext uri="{FF2B5EF4-FFF2-40B4-BE49-F238E27FC236}">
                <a16:creationId xmlns:a16="http://schemas.microsoft.com/office/drawing/2014/main" id="{C72D6F48-42F8-C677-4E70-9D97E8BA0879}"/>
              </a:ext>
            </a:extLst>
          </p:cNvPr>
          <p:cNvPicPr>
            <a:picLocks noChangeAspect="1"/>
          </p:cNvPicPr>
          <p:nvPr/>
        </p:nvPicPr>
        <p:blipFill>
          <a:blip r:embed="rId2"/>
          <a:stretch>
            <a:fillRect/>
          </a:stretch>
        </p:blipFill>
        <p:spPr>
          <a:xfrm>
            <a:off x="954474" y="1089365"/>
            <a:ext cx="4778477" cy="34334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Freeform 3">
            <a:extLst>
              <a:ext uri="{FF2B5EF4-FFF2-40B4-BE49-F238E27FC236}">
                <a16:creationId xmlns:a16="http://schemas.microsoft.com/office/drawing/2014/main" id="{6DA6351D-20C2-7445-4EA3-010710A7CC07}"/>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pic>
        <p:nvPicPr>
          <p:cNvPr id="5" name="Image 1" descr="/home/claude/nb_images/cell_77.png">
            <a:extLst>
              <a:ext uri="{FF2B5EF4-FFF2-40B4-BE49-F238E27FC236}">
                <a16:creationId xmlns:a16="http://schemas.microsoft.com/office/drawing/2014/main" id="{A0926C20-547E-7EBF-25D6-582B7AEF7027}"/>
              </a:ext>
            </a:extLst>
          </p:cNvPr>
          <p:cNvPicPr>
            <a:picLocks noChangeAspect="1"/>
          </p:cNvPicPr>
          <p:nvPr/>
        </p:nvPicPr>
        <p:blipFill>
          <a:blip r:embed="rId4"/>
          <a:stretch>
            <a:fillRect/>
          </a:stretch>
        </p:blipFill>
        <p:spPr>
          <a:xfrm>
            <a:off x="6459050" y="1158215"/>
            <a:ext cx="5044692" cy="33646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8746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88EB8565-4A2F-C886-2BB9-C6DB981100A0}"/>
              </a:ext>
            </a:extLst>
          </p:cNvPr>
          <p:cNvPicPr>
            <a:picLocks noChangeAspect="1"/>
          </p:cNvPicPr>
          <p:nvPr/>
        </p:nvPicPr>
        <p:blipFill>
          <a:blip r:embed="rId2"/>
          <a:stretch>
            <a:fillRect/>
          </a:stretch>
        </p:blipFill>
        <p:spPr>
          <a:xfrm>
            <a:off x="636147" y="1494284"/>
            <a:ext cx="5056692" cy="43755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C3CA902F-F8DE-3194-BBD7-B2FAC4D76333}"/>
              </a:ext>
            </a:extLst>
          </p:cNvPr>
          <p:cNvSpPr txBox="1"/>
          <p:nvPr/>
        </p:nvSpPr>
        <p:spPr>
          <a:xfrm>
            <a:off x="6096000" y="1322241"/>
            <a:ext cx="5459853" cy="4452116"/>
          </a:xfrm>
          <a:prstGeom prst="rect">
            <a:avLst/>
          </a:prstGeom>
          <a:noFill/>
        </p:spPr>
        <p:txBody>
          <a:bodyPr wrap="square" rtlCol="0">
            <a:spAutoFit/>
          </a:bodyPr>
          <a:lstStyle/>
          <a:p>
            <a:pPr algn="just">
              <a:lnSpc>
                <a:spcPct val="115000"/>
              </a:lnSpc>
            </a:pPr>
            <a:r>
              <a:rPr lang="en-US" sz="2200" dirty="0">
                <a:solidFill>
                  <a:srgbClr val="16213A"/>
                </a:solidFill>
                <a:latin typeface="Calibri" pitchFamily="34" charset="0"/>
                <a:ea typeface="Calibri" pitchFamily="34" charset="-122"/>
                <a:cs typeface="Calibri" pitchFamily="34" charset="-120"/>
              </a:rPr>
              <a:t>The </a:t>
            </a:r>
            <a:r>
              <a:rPr lang="en-US" sz="2200" dirty="0" err="1">
                <a:solidFill>
                  <a:srgbClr val="16213A"/>
                </a:solidFill>
                <a:latin typeface="Calibri" pitchFamily="34" charset="0"/>
                <a:ea typeface="Calibri" pitchFamily="34" charset="-122"/>
                <a:cs typeface="Calibri" pitchFamily="34" charset="-120"/>
              </a:rPr>
              <a:t>loan_status</a:t>
            </a:r>
            <a:r>
              <a:rPr lang="en-US" sz="2200" dirty="0">
                <a:solidFill>
                  <a:srgbClr val="16213A"/>
                </a:solidFill>
                <a:latin typeface="Calibri" pitchFamily="34" charset="0"/>
                <a:ea typeface="Calibri" pitchFamily="34" charset="-122"/>
                <a:cs typeface="Calibri" pitchFamily="34" charset="-120"/>
              </a:rPr>
              <a:t> pie chart shows a clear skew toward one outcome (Approved/Non-Default), with the other class forming a smaller minority share.</a:t>
            </a:r>
            <a:endParaRPr lang="en-US" sz="2200" dirty="0"/>
          </a:p>
          <a:p>
            <a:pPr algn="just">
              <a:lnSpc>
                <a:spcPct val="115000"/>
              </a:lnSpc>
            </a:pPr>
            <a:endParaRPr lang="en-US" sz="2200" dirty="0"/>
          </a:p>
          <a:p>
            <a:pPr algn="just">
              <a:lnSpc>
                <a:spcPct val="115000"/>
              </a:lnSpc>
            </a:pPr>
            <a:r>
              <a:rPr lang="en-US" sz="2200" dirty="0">
                <a:solidFill>
                  <a:srgbClr val="16213A"/>
                </a:solidFill>
                <a:latin typeface="Calibri" pitchFamily="34" charset="0"/>
                <a:ea typeface="Calibri" pitchFamily="34" charset="-122"/>
                <a:cs typeface="Calibri" pitchFamily="34" charset="-120"/>
              </a:rPr>
              <a:t>This confirms the dataset is imbalanced. While this does not affect descriptive EDA, it is an important consideration for any future predictive modelling — techniques like resampling or weighted metrics would be needed to avoid biased models</a:t>
            </a:r>
            <a:r>
              <a:rPr lang="en-US" sz="2800" dirty="0">
                <a:solidFill>
                  <a:srgbClr val="16213A"/>
                </a:solidFill>
                <a:latin typeface="Calibri" pitchFamily="34" charset="0"/>
                <a:ea typeface="Calibri" pitchFamily="34" charset="-122"/>
                <a:cs typeface="Calibri" pitchFamily="34" charset="-120"/>
              </a:rPr>
              <a:t>.</a:t>
            </a:r>
            <a:endParaRPr lang="en-US" sz="2800" dirty="0"/>
          </a:p>
        </p:txBody>
      </p:sp>
      <p:sp>
        <p:nvSpPr>
          <p:cNvPr id="4" name="TextBox 1">
            <a:extLst>
              <a:ext uri="{FF2B5EF4-FFF2-40B4-BE49-F238E27FC236}">
                <a16:creationId xmlns:a16="http://schemas.microsoft.com/office/drawing/2014/main" id="{A6A4EF16-92C4-1E14-DE95-A0D9F5B2C6B6}"/>
              </a:ext>
            </a:extLst>
          </p:cNvPr>
          <p:cNvSpPr txBox="1"/>
          <p:nvPr/>
        </p:nvSpPr>
        <p:spPr>
          <a:xfrm>
            <a:off x="0" y="453687"/>
            <a:ext cx="1219200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Loan Status Distribution </a:t>
            </a:r>
            <a:endParaRPr lang="en-IN"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Freeform 3">
            <a:extLst>
              <a:ext uri="{FF2B5EF4-FFF2-40B4-BE49-F238E27FC236}">
                <a16:creationId xmlns:a16="http://schemas.microsoft.com/office/drawing/2014/main" id="{40E72A3C-3FD9-BAAA-56B4-BD9F17335B20}"/>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2712652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nb_images/cell_86.png">
            <a:extLst>
              <a:ext uri="{FF2B5EF4-FFF2-40B4-BE49-F238E27FC236}">
                <a16:creationId xmlns:a16="http://schemas.microsoft.com/office/drawing/2014/main" id="{42C23DA9-D1C2-5D74-BFC7-E9E5BC148819}"/>
              </a:ext>
            </a:extLst>
          </p:cNvPr>
          <p:cNvPicPr>
            <a:picLocks noChangeAspect="1"/>
          </p:cNvPicPr>
          <p:nvPr/>
        </p:nvPicPr>
        <p:blipFill>
          <a:blip r:embed="rId2"/>
          <a:stretch>
            <a:fillRect/>
          </a:stretch>
        </p:blipFill>
        <p:spPr>
          <a:xfrm>
            <a:off x="835741" y="1471398"/>
            <a:ext cx="4798476" cy="31089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Image 1" descr="/home/claude/nb_images/cell_89.png">
            <a:extLst>
              <a:ext uri="{FF2B5EF4-FFF2-40B4-BE49-F238E27FC236}">
                <a16:creationId xmlns:a16="http://schemas.microsoft.com/office/drawing/2014/main" id="{05D73424-382D-4B27-74FE-20F619487802}"/>
              </a:ext>
            </a:extLst>
          </p:cNvPr>
          <p:cNvPicPr>
            <a:picLocks noChangeAspect="1"/>
          </p:cNvPicPr>
          <p:nvPr/>
        </p:nvPicPr>
        <p:blipFill>
          <a:blip r:embed="rId3"/>
          <a:stretch>
            <a:fillRect/>
          </a:stretch>
        </p:blipFill>
        <p:spPr>
          <a:xfrm>
            <a:off x="6646607" y="1579098"/>
            <a:ext cx="4503175" cy="31089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B8480BB9-6929-6255-8591-7101AC076276}"/>
              </a:ext>
            </a:extLst>
          </p:cNvPr>
          <p:cNvSpPr txBox="1"/>
          <p:nvPr/>
        </p:nvSpPr>
        <p:spPr>
          <a:xfrm>
            <a:off x="0" y="570623"/>
            <a:ext cx="12192000" cy="830997"/>
          </a:xfrm>
          <a:prstGeom prst="rect">
            <a:avLst/>
          </a:prstGeom>
          <a:noFill/>
        </p:spPr>
        <p:txBody>
          <a:bodyPr wrap="square" rtlCol="0">
            <a:spAutoFit/>
          </a:bodyPr>
          <a:lstStyle/>
          <a:p>
            <a:pPr algn="ctr"/>
            <a:r>
              <a:rPr lang="en-IN" sz="3000" b="1" dirty="0">
                <a:solidFill>
                  <a:srgbClr val="FF0000"/>
                </a:solidFill>
                <a:latin typeface="Times New Roman"/>
                <a:ea typeface="Calibri" panose="020F0502020204030204" pitchFamily="34" charset="0"/>
                <a:cs typeface="Times New Roman"/>
              </a:rPr>
              <a:t>Home Ownership &amp; Loan Intent</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A983FA0-111E-FF61-282F-04AB8E467CB1}"/>
              </a:ext>
            </a:extLst>
          </p:cNvPr>
          <p:cNvSpPr txBox="1"/>
          <p:nvPr/>
        </p:nvSpPr>
        <p:spPr>
          <a:xfrm>
            <a:off x="835741" y="4996130"/>
            <a:ext cx="10137059" cy="1492716"/>
          </a:xfrm>
          <a:prstGeom prst="rect">
            <a:avLst/>
          </a:prstGeom>
          <a:noFill/>
        </p:spPr>
        <p:txBody>
          <a:bodyPr wrap="square" rtlCol="0">
            <a:spAutoFit/>
          </a:bodyPr>
          <a:lstStyle/>
          <a:p>
            <a:pPr eaLnBrk="0" fontAlgn="base" hangingPunct="0">
              <a:spcBef>
                <a:spcPct val="0"/>
              </a:spcBef>
              <a:spcAft>
                <a:spcPct val="0"/>
              </a:spcAft>
            </a:pPr>
            <a:r>
              <a:rPr lang="en-US" sz="2000" b="1" dirty="0">
                <a:solidFill>
                  <a:srgbClr val="16213A"/>
                </a:solidFill>
                <a:latin typeface="Calibri" pitchFamily="34" charset="0"/>
                <a:ea typeface="Calibri" pitchFamily="34" charset="-122"/>
                <a:cs typeface="Calibri" pitchFamily="34" charset="-120"/>
              </a:rPr>
              <a:t>Home Ownership: </a:t>
            </a:r>
            <a:r>
              <a:rPr lang="en-US" sz="2000" dirty="0">
                <a:solidFill>
                  <a:srgbClr val="16213A"/>
                </a:solidFill>
                <a:latin typeface="Calibri" pitchFamily="34" charset="0"/>
                <a:ea typeface="Calibri" pitchFamily="34" charset="-122"/>
                <a:cs typeface="Calibri" pitchFamily="34" charset="-120"/>
              </a:rPr>
              <a:t>RENT and MORTGAGE dominate the applicant base, with far fewer outright owners. </a:t>
            </a:r>
          </a:p>
          <a:p>
            <a:pPr eaLnBrk="0" fontAlgn="base" hangingPunct="0">
              <a:spcBef>
                <a:spcPct val="0"/>
              </a:spcBef>
              <a:spcAft>
                <a:spcPct val="0"/>
              </a:spcAft>
            </a:pPr>
            <a:r>
              <a:rPr lang="en-US" sz="2000" b="1" dirty="0">
                <a:solidFill>
                  <a:srgbClr val="16213A"/>
                </a:solidFill>
                <a:latin typeface="Calibri" pitchFamily="34" charset="0"/>
                <a:ea typeface="Calibri" pitchFamily="34" charset="-122"/>
                <a:cs typeface="Calibri" pitchFamily="34" charset="-120"/>
              </a:rPr>
              <a:t>Loan Intent: </a:t>
            </a:r>
            <a:r>
              <a:rPr lang="en-US" sz="2000" dirty="0">
                <a:solidFill>
                  <a:srgbClr val="16213A"/>
                </a:solidFill>
                <a:latin typeface="Calibri" pitchFamily="34" charset="0"/>
                <a:ea typeface="Calibri" pitchFamily="34" charset="-122"/>
                <a:cs typeface="Calibri" pitchFamily="34" charset="-120"/>
              </a:rPr>
              <a:t>Education and Medical purposes are among the most frequent reasons for borrowing.</a:t>
            </a:r>
            <a:endParaRPr lang="en-US" sz="2000" dirty="0"/>
          </a:p>
          <a:p>
            <a:pPr lvl="0" eaLnBrk="0" fontAlgn="base" hangingPunct="0">
              <a:spcBef>
                <a:spcPct val="0"/>
              </a:spcBef>
              <a:spcAft>
                <a:spcPct val="0"/>
              </a:spcAft>
              <a:buClrTx/>
            </a:pPr>
            <a:endParaRPr lang="en-US" altLang="en-US" sz="11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Freeform 3">
            <a:extLst>
              <a:ext uri="{FF2B5EF4-FFF2-40B4-BE49-F238E27FC236}">
                <a16:creationId xmlns:a16="http://schemas.microsoft.com/office/drawing/2014/main" id="{D7144D14-EA53-0AA9-10C0-21FE8AEA2D30}"/>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4"/>
            <a:stretch>
              <a:fillRect b="3"/>
            </a:stretch>
          </a:blipFill>
        </p:spPr>
        <p:txBody>
          <a:bodyPr/>
          <a:lstStyle/>
          <a:p>
            <a:endParaRPr lang="en-IN"/>
          </a:p>
        </p:txBody>
      </p:sp>
    </p:spTree>
    <p:extLst>
      <p:ext uri="{BB962C8B-B14F-4D97-AF65-F5344CB8AC3E}">
        <p14:creationId xmlns:p14="http://schemas.microsoft.com/office/powerpoint/2010/main" val="3436242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E4FBBD-1022-FA20-C2EC-6849D2073684}"/>
              </a:ext>
            </a:extLst>
          </p:cNvPr>
          <p:cNvSpPr txBox="1"/>
          <p:nvPr/>
        </p:nvSpPr>
        <p:spPr>
          <a:xfrm>
            <a:off x="0" y="803136"/>
            <a:ext cx="1219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Income vs Loan Amount</a:t>
            </a:r>
            <a:endParaRPr lang="en-IN"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1F0D38AF-86E1-BB05-5D34-4EC6BDD7D5D6}"/>
              </a:ext>
            </a:extLst>
          </p:cNvPr>
          <p:cNvSpPr txBox="1"/>
          <p:nvPr/>
        </p:nvSpPr>
        <p:spPr>
          <a:xfrm>
            <a:off x="6223819" y="1967666"/>
            <a:ext cx="5393506" cy="4098558"/>
          </a:xfrm>
          <a:prstGeom prst="rect">
            <a:avLst/>
          </a:prstGeom>
          <a:noFill/>
        </p:spPr>
        <p:txBody>
          <a:bodyPr wrap="square" rtlCol="0">
            <a:spAutoFit/>
          </a:bodyPr>
          <a:lstStyle/>
          <a:p>
            <a:pPr algn="just">
              <a:lnSpc>
                <a:spcPct val="115000"/>
              </a:lnSpc>
            </a:pPr>
            <a:r>
              <a:rPr lang="en-US" sz="2000" dirty="0">
                <a:solidFill>
                  <a:srgbClr val="16213A"/>
                </a:solidFill>
                <a:latin typeface="Calibri" pitchFamily="34" charset="0"/>
                <a:ea typeface="Calibri" pitchFamily="34" charset="-122"/>
                <a:cs typeface="Calibri" pitchFamily="34" charset="-120"/>
              </a:rPr>
              <a:t>A scatter plot was used to study the relationship between two continuous variables — income and loan amount.</a:t>
            </a:r>
            <a:endParaRPr lang="en-US" sz="2000" dirty="0"/>
          </a:p>
          <a:p>
            <a:pPr algn="just">
              <a:lnSpc>
                <a:spcPct val="115000"/>
              </a:lnSpc>
            </a:pPr>
            <a:endParaRPr lang="en-US" sz="2000" dirty="0"/>
          </a:p>
          <a:p>
            <a:pPr algn="just">
              <a:lnSpc>
                <a:spcPct val="115000"/>
              </a:lnSpc>
            </a:pPr>
            <a:r>
              <a:rPr lang="en-US" sz="2000" b="1" dirty="0">
                <a:solidFill>
                  <a:srgbClr val="16213A"/>
                </a:solidFill>
                <a:latin typeface="Calibri" pitchFamily="34" charset="0"/>
                <a:ea typeface="Calibri" pitchFamily="34" charset="-122"/>
                <a:cs typeface="Calibri" pitchFamily="34" charset="-120"/>
              </a:rPr>
              <a:t>Observation: </a:t>
            </a:r>
            <a:r>
              <a:rPr lang="en-US" sz="2000" dirty="0">
                <a:solidFill>
                  <a:srgbClr val="16213A"/>
                </a:solidFill>
                <a:latin typeface="Calibri" pitchFamily="34" charset="0"/>
                <a:ea typeface="Calibri" pitchFamily="34" charset="-122"/>
                <a:cs typeface="Calibri" pitchFamily="34" charset="-120"/>
              </a:rPr>
              <a:t>Higher-income customers tend to request larger loans, but the relationship is loose, suggesting income alone does not fully determine loan size — </a:t>
            </a:r>
            <a:r>
              <a:rPr lang="en-US" sz="2000" dirty="0" err="1">
                <a:solidFill>
                  <a:srgbClr val="16213A"/>
                </a:solidFill>
                <a:latin typeface="Calibri" pitchFamily="34" charset="0"/>
                <a:ea typeface="Calibri" pitchFamily="34" charset="-122"/>
                <a:cs typeface="Calibri" pitchFamily="34" charset="-120"/>
              </a:rPr>
              <a:t>loan_intent</a:t>
            </a:r>
            <a:r>
              <a:rPr lang="en-US" sz="2000" dirty="0">
                <a:solidFill>
                  <a:srgbClr val="16213A"/>
                </a:solidFill>
                <a:latin typeface="Calibri" pitchFamily="34" charset="0"/>
                <a:ea typeface="Calibri" pitchFamily="34" charset="-122"/>
                <a:cs typeface="Calibri" pitchFamily="34" charset="-120"/>
              </a:rPr>
              <a:t> and </a:t>
            </a:r>
            <a:r>
              <a:rPr lang="en-US" sz="2000" dirty="0" err="1">
                <a:solidFill>
                  <a:srgbClr val="16213A"/>
                </a:solidFill>
                <a:latin typeface="Calibri" pitchFamily="34" charset="0"/>
                <a:ea typeface="Calibri" pitchFamily="34" charset="-122"/>
                <a:cs typeface="Calibri" pitchFamily="34" charset="-120"/>
              </a:rPr>
              <a:t>loan_grade</a:t>
            </a:r>
            <a:r>
              <a:rPr lang="en-US" sz="2000" dirty="0">
                <a:solidFill>
                  <a:srgbClr val="16213A"/>
                </a:solidFill>
                <a:latin typeface="Calibri" pitchFamily="34" charset="0"/>
                <a:ea typeface="Calibri" pitchFamily="34" charset="-122"/>
                <a:cs typeface="Calibri" pitchFamily="34" charset="-120"/>
              </a:rPr>
              <a:t> also play a role.</a:t>
            </a:r>
            <a:endParaRPr lang="en-US" sz="2000" dirty="0"/>
          </a:p>
          <a:p>
            <a:pPr algn="just">
              <a:lnSpc>
                <a:spcPct val="150000"/>
              </a:lnSpc>
              <a:spcAft>
                <a:spcPts val="400"/>
              </a:spcAft>
              <a:buSzPct val="100000"/>
            </a:pPr>
            <a:endParaRPr lang="en-US" sz="2000" dirty="0"/>
          </a:p>
          <a:p>
            <a:pPr lvl="0" algn="just" eaLnBrk="0" fontAlgn="base" hangingPunct="0">
              <a:spcBef>
                <a:spcPct val="0"/>
              </a:spcBef>
              <a:spcAft>
                <a:spcPct val="0"/>
              </a:spcAft>
              <a:buClrTx/>
            </a:pPr>
            <a:endParaRPr lang="en-US" altLang="en-US" sz="2000" dirty="0">
              <a:solidFill>
                <a:schemeClr val="tx1"/>
              </a:solidFill>
              <a:latin typeface="Arial "/>
              <a:ea typeface="Calibri" panose="020F0502020204030204" pitchFamily="34" charset="0"/>
              <a:cs typeface="Calibri" panose="020F0502020204030204" pitchFamily="34" charset="0"/>
            </a:endParaRPr>
          </a:p>
        </p:txBody>
      </p:sp>
      <p:sp>
        <p:nvSpPr>
          <p:cNvPr id="14" name="Rectangle 19">
            <a:extLst>
              <a:ext uri="{FF2B5EF4-FFF2-40B4-BE49-F238E27FC236}">
                <a16:creationId xmlns:a16="http://schemas.microsoft.com/office/drawing/2014/main" id="{5240EB5E-9123-B200-FADB-885CF70DDAEE}"/>
              </a:ext>
            </a:extLst>
          </p:cNvPr>
          <p:cNvSpPr>
            <a:spLocks noChangeArrowheads="1"/>
          </p:cNvSpPr>
          <p:nvPr/>
        </p:nvSpPr>
        <p:spPr bwMode="auto">
          <a:xfrm>
            <a:off x="0" y="-228239"/>
            <a:ext cx="65" cy="456479"/>
          </a:xfrm>
          <a:prstGeom prst="rect">
            <a:avLst/>
          </a:prstGeom>
          <a:solidFill>
            <a:srgbClr val="10121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76176"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5" name="Rectangle 26">
            <a:extLst>
              <a:ext uri="{FF2B5EF4-FFF2-40B4-BE49-F238E27FC236}">
                <a16:creationId xmlns:a16="http://schemas.microsoft.com/office/drawing/2014/main" id="{8A6A79C3-6399-D447-A164-8E0409BB8B33}"/>
              </a:ext>
            </a:extLst>
          </p:cNvPr>
          <p:cNvSpPr>
            <a:spLocks noChangeArrowheads="1"/>
          </p:cNvSpPr>
          <p:nvPr/>
        </p:nvSpPr>
        <p:spPr bwMode="auto">
          <a:xfrm>
            <a:off x="0" y="-145951"/>
            <a:ext cx="184731" cy="307777"/>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6" name="Rectangle 27">
            <a:extLst>
              <a:ext uri="{FF2B5EF4-FFF2-40B4-BE49-F238E27FC236}">
                <a16:creationId xmlns:a16="http://schemas.microsoft.com/office/drawing/2014/main" id="{571A71D6-30B5-15A1-98A2-D1F431D9C05B}"/>
              </a:ext>
            </a:extLst>
          </p:cNvPr>
          <p:cNvSpPr>
            <a:spLocks noChangeArrowheads="1"/>
          </p:cNvSpPr>
          <p:nvPr/>
        </p:nvSpPr>
        <p:spPr bwMode="auto">
          <a:xfrm>
            <a:off x="0" y="-230346"/>
            <a:ext cx="18473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3092" name="Picture 20">
            <a:extLst>
              <a:ext uri="{FF2B5EF4-FFF2-40B4-BE49-F238E27FC236}">
                <a16:creationId xmlns:a16="http://schemas.microsoft.com/office/drawing/2014/main" id="{4F2152D3-EB3A-2EF9-2BB3-F4504A81B3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56594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3" name="Picture 21">
            <a:extLst>
              <a:ext uri="{FF2B5EF4-FFF2-40B4-BE49-F238E27FC236}">
                <a16:creationId xmlns:a16="http://schemas.microsoft.com/office/drawing/2014/main" id="{A6A3F78C-4D0A-C5C8-BB64-EAFD566C3E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4135438"/>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4" name="Picture 22">
            <a:extLst>
              <a:ext uri="{FF2B5EF4-FFF2-40B4-BE49-F238E27FC236}">
                <a16:creationId xmlns:a16="http://schemas.microsoft.com/office/drawing/2014/main" id="{A7056C03-0B10-CDDD-9137-567D6063A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242887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5" name="Picture 23">
            <a:extLst>
              <a:ext uri="{FF2B5EF4-FFF2-40B4-BE49-F238E27FC236}">
                <a16:creationId xmlns:a16="http://schemas.microsoft.com/office/drawing/2014/main" id="{5FF5ABEF-CDB5-8267-5B85-191B63E753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65087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a:extLst>
              <a:ext uri="{FF2B5EF4-FFF2-40B4-BE49-F238E27FC236}">
                <a16:creationId xmlns:a16="http://schemas.microsoft.com/office/drawing/2014/main" id="{57385040-E16F-1CA0-81D0-3F384F6A7C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2174875"/>
            <a:ext cx="9525" cy="9525"/>
          </a:xfrm>
          <a:prstGeom prst="rect">
            <a:avLst/>
          </a:prstGeom>
          <a:noFill/>
          <a:extLst>
            <a:ext uri="{909E8E84-426E-40DD-AFC4-6F175D3DCCD1}">
              <a14:hiddenFill xmlns:a14="http://schemas.microsoft.com/office/drawing/2010/main">
                <a:solidFill>
                  <a:srgbClr val="FFFFFF"/>
                </a:solidFill>
              </a14:hiddenFill>
            </a:ext>
          </a:extLst>
        </p:spPr>
      </p:pic>
      <p:pic>
        <p:nvPicPr>
          <p:cNvPr id="3097" name="Picture 25">
            <a:extLst>
              <a:ext uri="{FF2B5EF4-FFF2-40B4-BE49-F238E27FC236}">
                <a16:creationId xmlns:a16="http://schemas.microsoft.com/office/drawing/2014/main" id="{D11B8FC4-86E5-0977-A517-91D3B9FF62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675" y="3881438"/>
            <a:ext cx="9525" cy="95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8711A81-35C4-1CDA-C91A-C2BFF01A9A99}"/>
              </a:ext>
            </a:extLst>
          </p:cNvPr>
          <p:cNvSpPr txBox="1"/>
          <p:nvPr/>
        </p:nvSpPr>
        <p:spPr>
          <a:xfrm>
            <a:off x="4310742" y="251649"/>
            <a:ext cx="3570515" cy="461665"/>
          </a:xfrm>
          <a:prstGeom prst="rect">
            <a:avLst/>
          </a:prstGeom>
          <a:noFill/>
        </p:spPr>
        <p:txBody>
          <a:bodyPr wrap="square" rtlCol="0">
            <a:spAutoFit/>
          </a:bodyPr>
          <a:lstStyle/>
          <a:p>
            <a:pPr algn="ctr"/>
            <a:r>
              <a:rPr lang="en-US"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Bivariate Analysis</a:t>
            </a:r>
            <a:endParaRPr lang="en-IN" sz="24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Image 0">
            <a:extLst>
              <a:ext uri="{FF2B5EF4-FFF2-40B4-BE49-F238E27FC236}">
                <a16:creationId xmlns:a16="http://schemas.microsoft.com/office/drawing/2014/main" id="{46888A6A-D724-BB48-5E13-3128B9592D1F}"/>
              </a:ext>
            </a:extLst>
          </p:cNvPr>
          <p:cNvPicPr>
            <a:picLocks noChangeAspect="1"/>
          </p:cNvPicPr>
          <p:nvPr/>
        </p:nvPicPr>
        <p:blipFill>
          <a:blip r:embed="rId3"/>
          <a:stretch>
            <a:fillRect/>
          </a:stretch>
        </p:blipFill>
        <p:spPr>
          <a:xfrm>
            <a:off x="745707" y="1728399"/>
            <a:ext cx="5114320" cy="39892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Freeform 3">
            <a:extLst>
              <a:ext uri="{FF2B5EF4-FFF2-40B4-BE49-F238E27FC236}">
                <a16:creationId xmlns:a16="http://schemas.microsoft.com/office/drawing/2014/main" id="{34F58778-CEDC-C82C-1450-8E7CFA67735A}"/>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4"/>
            <a:stretch>
              <a:fillRect b="3"/>
            </a:stretch>
          </a:blipFill>
        </p:spPr>
        <p:txBody>
          <a:bodyPr/>
          <a:lstStyle/>
          <a:p>
            <a:endParaRPr lang="en-IN"/>
          </a:p>
        </p:txBody>
      </p:sp>
    </p:spTree>
    <p:extLst>
      <p:ext uri="{BB962C8B-B14F-4D97-AF65-F5344CB8AC3E}">
        <p14:creationId xmlns:p14="http://schemas.microsoft.com/office/powerpoint/2010/main" val="3245960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A7C01-3211-064E-75E3-FBE5AE906C6A}"/>
              </a:ext>
            </a:extLst>
          </p:cNvPr>
          <p:cNvSpPr txBox="1"/>
          <p:nvPr/>
        </p:nvSpPr>
        <p:spPr>
          <a:xfrm>
            <a:off x="1066800" y="614664"/>
            <a:ext cx="10570029"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Loan Grade vs Loan Status</a:t>
            </a:r>
            <a:endParaRPr lang="en-IN"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64EF9A6-D36E-48E0-7898-8C4D9BF22E37}"/>
              </a:ext>
            </a:extLst>
          </p:cNvPr>
          <p:cNvSpPr txBox="1"/>
          <p:nvPr/>
        </p:nvSpPr>
        <p:spPr>
          <a:xfrm>
            <a:off x="6705602" y="1583110"/>
            <a:ext cx="4931227" cy="3691780"/>
          </a:xfrm>
          <a:prstGeom prst="rect">
            <a:avLst/>
          </a:prstGeom>
          <a:noFill/>
        </p:spPr>
        <p:txBody>
          <a:bodyPr wrap="square" rtlCol="0">
            <a:spAutoFit/>
          </a:bodyPr>
          <a:lstStyle/>
          <a:p>
            <a:pPr algn="just">
              <a:lnSpc>
                <a:spcPct val="115000"/>
              </a:lnSpc>
            </a:pPr>
            <a:r>
              <a:rPr lang="en-US" sz="2000" dirty="0">
                <a:solidFill>
                  <a:srgbClr val="16213A"/>
                </a:solidFill>
                <a:latin typeface="Calibri" pitchFamily="34" charset="0"/>
                <a:ea typeface="Calibri" pitchFamily="34" charset="-122"/>
                <a:cs typeface="Calibri" pitchFamily="34" charset="-120"/>
              </a:rPr>
              <a:t>A grouped count plot compares loan status across credit grades.</a:t>
            </a:r>
            <a:endParaRPr lang="en-US" sz="2000" dirty="0"/>
          </a:p>
          <a:p>
            <a:pPr algn="just">
              <a:lnSpc>
                <a:spcPct val="115000"/>
              </a:lnSpc>
            </a:pPr>
            <a:endParaRPr lang="en-US" sz="2000" dirty="0"/>
          </a:p>
          <a:p>
            <a:pPr algn="just">
              <a:lnSpc>
                <a:spcPct val="115000"/>
              </a:lnSpc>
            </a:pPr>
            <a:r>
              <a:rPr lang="en-US" sz="2000" b="1" dirty="0">
                <a:solidFill>
                  <a:srgbClr val="16213A"/>
                </a:solidFill>
                <a:latin typeface="Calibri" pitchFamily="34" charset="0"/>
                <a:ea typeface="Calibri" pitchFamily="34" charset="-122"/>
                <a:cs typeface="Calibri" pitchFamily="34" charset="-120"/>
              </a:rPr>
              <a:t>Observation: </a:t>
            </a:r>
            <a:r>
              <a:rPr lang="en-US" sz="2000" dirty="0">
                <a:solidFill>
                  <a:srgbClr val="16213A"/>
                </a:solidFill>
                <a:latin typeface="Calibri" pitchFamily="34" charset="0"/>
                <a:ea typeface="Calibri" pitchFamily="34" charset="-122"/>
                <a:cs typeface="Calibri" pitchFamily="34" charset="-120"/>
              </a:rPr>
              <a:t>Lower credit grades (towards G) show a proportionally higher share of 'Not Approved' outcomes, confirming that loan grade is a strong risk indicator — exactly what credit-grading systems are designed to capture.</a:t>
            </a:r>
            <a:endParaRPr lang="en-US" sz="2000" dirty="0"/>
          </a:p>
          <a:p>
            <a:pPr algn="just">
              <a:lnSpc>
                <a:spcPct val="150000"/>
              </a:lnSpc>
              <a:spcAft>
                <a:spcPts val="400"/>
              </a:spcAft>
              <a:buSzPct val="100000"/>
            </a:pPr>
            <a:endParaRPr lang="en-US" sz="2000" dirty="0"/>
          </a:p>
        </p:txBody>
      </p:sp>
      <p:pic>
        <p:nvPicPr>
          <p:cNvPr id="8" name="Image 0">
            <a:extLst>
              <a:ext uri="{FF2B5EF4-FFF2-40B4-BE49-F238E27FC236}">
                <a16:creationId xmlns:a16="http://schemas.microsoft.com/office/drawing/2014/main" id="{A3EA49DC-343F-49F7-7C6C-902DBC280955}"/>
              </a:ext>
            </a:extLst>
          </p:cNvPr>
          <p:cNvPicPr>
            <a:picLocks noChangeAspect="1"/>
          </p:cNvPicPr>
          <p:nvPr/>
        </p:nvPicPr>
        <p:blipFill>
          <a:blip r:embed="rId2"/>
          <a:stretch>
            <a:fillRect/>
          </a:stretch>
        </p:blipFill>
        <p:spPr>
          <a:xfrm>
            <a:off x="711364" y="1407267"/>
            <a:ext cx="5758262" cy="45744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Freeform 3">
            <a:extLst>
              <a:ext uri="{FF2B5EF4-FFF2-40B4-BE49-F238E27FC236}">
                <a16:creationId xmlns:a16="http://schemas.microsoft.com/office/drawing/2014/main" id="{6C327DBF-3DD6-937B-C8D7-8B3FA1CD8BB7}"/>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584466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nb_images/cell_102.png">
            <a:extLst>
              <a:ext uri="{FF2B5EF4-FFF2-40B4-BE49-F238E27FC236}">
                <a16:creationId xmlns:a16="http://schemas.microsoft.com/office/drawing/2014/main" id="{DAF13460-D62B-922F-CDC8-19F8D1F74619}"/>
              </a:ext>
            </a:extLst>
          </p:cNvPr>
          <p:cNvPicPr>
            <a:picLocks noChangeAspect="1"/>
          </p:cNvPicPr>
          <p:nvPr/>
        </p:nvPicPr>
        <p:blipFill>
          <a:blip r:embed="rId2"/>
          <a:stretch>
            <a:fillRect/>
          </a:stretch>
        </p:blipFill>
        <p:spPr>
          <a:xfrm>
            <a:off x="983224" y="1253869"/>
            <a:ext cx="4758813" cy="36622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Image 1" descr="/home/claude/nb_images/cell_105.png">
            <a:extLst>
              <a:ext uri="{FF2B5EF4-FFF2-40B4-BE49-F238E27FC236}">
                <a16:creationId xmlns:a16="http://schemas.microsoft.com/office/drawing/2014/main" id="{44B9BFAE-A083-13ED-267A-89D6FC1E3FCD}"/>
              </a:ext>
            </a:extLst>
          </p:cNvPr>
          <p:cNvPicPr>
            <a:picLocks noChangeAspect="1"/>
          </p:cNvPicPr>
          <p:nvPr/>
        </p:nvPicPr>
        <p:blipFill>
          <a:blip r:embed="rId3"/>
          <a:stretch>
            <a:fillRect/>
          </a:stretch>
        </p:blipFill>
        <p:spPr>
          <a:xfrm>
            <a:off x="6449964" y="1253869"/>
            <a:ext cx="5076286" cy="36622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5390B0E2-8B4E-64D7-50FC-C14F450FADD9}"/>
              </a:ext>
            </a:extLst>
          </p:cNvPr>
          <p:cNvSpPr txBox="1"/>
          <p:nvPr/>
        </p:nvSpPr>
        <p:spPr>
          <a:xfrm>
            <a:off x="1066800" y="526173"/>
            <a:ext cx="10570029" cy="523220"/>
          </a:xfrm>
          <a:prstGeom prst="rect">
            <a:avLst/>
          </a:prstGeom>
          <a:noFill/>
        </p:spPr>
        <p:txBody>
          <a:bodyPr wrap="square" rtlCol="0">
            <a:spAutoFit/>
          </a:bodyPr>
          <a:lstStyle/>
          <a:p>
            <a:pPr algn="ctr"/>
            <a:r>
              <a:rPr lang="en-US" sz="2800" b="1" dirty="0">
                <a:solidFill>
                  <a:srgbClr val="FF0000"/>
                </a:solidFill>
                <a:latin typeface="Cambria" pitchFamily="34" charset="0"/>
                <a:ea typeface="Cambria" pitchFamily="34" charset="-122"/>
                <a:cs typeface="Cambria" pitchFamily="34" charset="-120"/>
              </a:rPr>
              <a:t>Home Ownership &amp; Loan Intent vs Status</a:t>
            </a:r>
            <a:endParaRPr lang="en-US" sz="2800" dirty="0">
              <a:solidFill>
                <a:srgbClr val="FF0000"/>
              </a:solidFill>
            </a:endParaRPr>
          </a:p>
        </p:txBody>
      </p:sp>
      <p:sp>
        <p:nvSpPr>
          <p:cNvPr id="7" name="TextBox 6">
            <a:extLst>
              <a:ext uri="{FF2B5EF4-FFF2-40B4-BE49-F238E27FC236}">
                <a16:creationId xmlns:a16="http://schemas.microsoft.com/office/drawing/2014/main" id="{5C6C78D0-846D-51D2-22AC-871A789A4FBB}"/>
              </a:ext>
            </a:extLst>
          </p:cNvPr>
          <p:cNvSpPr txBox="1"/>
          <p:nvPr/>
        </p:nvSpPr>
        <p:spPr>
          <a:xfrm>
            <a:off x="973393" y="5120605"/>
            <a:ext cx="10245213" cy="1429622"/>
          </a:xfrm>
          <a:prstGeom prst="rect">
            <a:avLst/>
          </a:prstGeom>
          <a:noFill/>
        </p:spPr>
        <p:txBody>
          <a:bodyPr wrap="square" rtlCol="0">
            <a:spAutoFit/>
          </a:bodyPr>
          <a:lstStyle/>
          <a:p>
            <a:pPr algn="just">
              <a:lnSpc>
                <a:spcPct val="150000"/>
              </a:lnSpc>
              <a:spcAft>
                <a:spcPts val="400"/>
              </a:spcAft>
              <a:buSzPct val="100000"/>
            </a:pPr>
            <a:r>
              <a:rPr lang="en-US" sz="2000" b="1" dirty="0">
                <a:latin typeface="Calibri" pitchFamily="34" charset="0"/>
                <a:ea typeface="Calibri" pitchFamily="34" charset="-122"/>
                <a:cs typeface="Calibri" pitchFamily="34" charset="-120"/>
              </a:rPr>
              <a:t>Observation: </a:t>
            </a:r>
            <a:r>
              <a:rPr lang="en-US" sz="2000" dirty="0">
                <a:latin typeface="Calibri" pitchFamily="34" charset="0"/>
                <a:ea typeface="Calibri" pitchFamily="34" charset="-122"/>
                <a:cs typeface="Calibri" pitchFamily="34" charset="-120"/>
              </a:rPr>
              <a:t>Renters show a relatively higher non-approval share than mortgage holders/owners; certain loan purposes (e.g. medical) also show different approval patterns, hinting at intent-based risk differences.</a:t>
            </a:r>
            <a:endParaRPr lang="en-US" sz="2000" dirty="0"/>
          </a:p>
        </p:txBody>
      </p:sp>
      <p:sp>
        <p:nvSpPr>
          <p:cNvPr id="5" name="Freeform 3">
            <a:extLst>
              <a:ext uri="{FF2B5EF4-FFF2-40B4-BE49-F238E27FC236}">
                <a16:creationId xmlns:a16="http://schemas.microsoft.com/office/drawing/2014/main" id="{A96B9D1A-CFC5-BF04-3163-CEDB184D0C6A}"/>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4"/>
            <a:stretch>
              <a:fillRect b="3"/>
            </a:stretch>
          </a:blipFill>
        </p:spPr>
        <p:txBody>
          <a:bodyPr/>
          <a:lstStyle/>
          <a:p>
            <a:endParaRPr lang="en-IN"/>
          </a:p>
        </p:txBody>
      </p:sp>
    </p:spTree>
    <p:extLst>
      <p:ext uri="{BB962C8B-B14F-4D97-AF65-F5344CB8AC3E}">
        <p14:creationId xmlns:p14="http://schemas.microsoft.com/office/powerpoint/2010/main" val="3467166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0AC211-8125-F165-BD60-59D3F096CA6F}"/>
              </a:ext>
            </a:extLst>
          </p:cNvPr>
          <p:cNvSpPr txBox="1"/>
          <p:nvPr/>
        </p:nvSpPr>
        <p:spPr>
          <a:xfrm>
            <a:off x="3706586" y="152753"/>
            <a:ext cx="4778828" cy="461665"/>
          </a:xfrm>
          <a:prstGeom prst="rect">
            <a:avLst/>
          </a:prstGeom>
          <a:noFill/>
        </p:spPr>
        <p:txBody>
          <a:bodyPr wrap="square" rtlCol="0">
            <a:spAutoFit/>
          </a:bodyPr>
          <a:lstStyle/>
          <a:p>
            <a:pPr algn="ctr"/>
            <a:r>
              <a:rPr lang="en-US" sz="2400" b="1" dirty="0">
                <a:solidFill>
                  <a:srgbClr val="FF0000"/>
                </a:solidFill>
                <a:latin typeface="Calibri" panose="020F0502020204030204" pitchFamily="34" charset="0"/>
                <a:ea typeface="Calibri" panose="020F0502020204030204" pitchFamily="34" charset="0"/>
                <a:cs typeface="Calibri" panose="020F0502020204030204" pitchFamily="34" charset="0"/>
              </a:rPr>
              <a:t>Multivariate Analysis</a:t>
            </a:r>
            <a:endParaRPr lang="en-IN" sz="2400"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07AB4E3-58FE-B405-7E8A-06BB47AB17AF}"/>
              </a:ext>
            </a:extLst>
          </p:cNvPr>
          <p:cNvSpPr txBox="1"/>
          <p:nvPr/>
        </p:nvSpPr>
        <p:spPr>
          <a:xfrm>
            <a:off x="6451014" y="1691501"/>
            <a:ext cx="5318227" cy="3257045"/>
          </a:xfrm>
          <a:prstGeom prst="rect">
            <a:avLst/>
          </a:prstGeom>
          <a:noFill/>
        </p:spPr>
        <p:txBody>
          <a:bodyPr wrap="square" rtlCol="0">
            <a:spAutoFit/>
          </a:bodyPr>
          <a:lstStyle/>
          <a:p>
            <a:pPr>
              <a:lnSpc>
                <a:spcPct val="115000"/>
              </a:lnSpc>
            </a:pPr>
            <a:r>
              <a:rPr lang="en-US" sz="2000" dirty="0">
                <a:solidFill>
                  <a:srgbClr val="16213A"/>
                </a:solidFill>
                <a:latin typeface="Calibri" pitchFamily="34" charset="0"/>
                <a:ea typeface="Calibri" pitchFamily="34" charset="-122"/>
                <a:cs typeface="Calibri" pitchFamily="34" charset="-120"/>
              </a:rPr>
              <a:t>The pair plot examines pairwise relationships among income, loan amount, interest rate and loan status together.</a:t>
            </a:r>
            <a:endParaRPr lang="en-US" sz="2000" dirty="0"/>
          </a:p>
          <a:p>
            <a:pPr>
              <a:lnSpc>
                <a:spcPct val="115000"/>
              </a:lnSpc>
            </a:pPr>
            <a:endParaRPr lang="en-US" sz="2000" dirty="0"/>
          </a:p>
          <a:p>
            <a:pPr>
              <a:lnSpc>
                <a:spcPct val="115000"/>
              </a:lnSpc>
            </a:pPr>
            <a:r>
              <a:rPr lang="en-US" sz="2000" b="1" dirty="0">
                <a:solidFill>
                  <a:srgbClr val="16213A"/>
                </a:solidFill>
                <a:latin typeface="Calibri" pitchFamily="34" charset="0"/>
                <a:ea typeface="Calibri" pitchFamily="34" charset="-122"/>
                <a:cs typeface="Calibri" pitchFamily="34" charset="-120"/>
              </a:rPr>
              <a:t>Observation: </a:t>
            </a:r>
            <a:r>
              <a:rPr lang="en-US" sz="2000" dirty="0">
                <a:solidFill>
                  <a:srgbClr val="16213A"/>
                </a:solidFill>
                <a:latin typeface="Calibri" pitchFamily="34" charset="0"/>
                <a:ea typeface="Calibri" pitchFamily="34" charset="-122"/>
                <a:cs typeface="Calibri" pitchFamily="34" charset="-120"/>
              </a:rPr>
              <a:t>'Not Approved' cases cluster at higher interest rates and higher loan-to-income ratios, while 'Approved' cases skew toward lower interest rates — a multivariate confirmation of single-variable findings.</a:t>
            </a:r>
            <a:endParaRPr lang="en-US" sz="2000" dirty="0"/>
          </a:p>
        </p:txBody>
      </p:sp>
      <p:pic>
        <p:nvPicPr>
          <p:cNvPr id="6" name="Image 0">
            <a:extLst>
              <a:ext uri="{FF2B5EF4-FFF2-40B4-BE49-F238E27FC236}">
                <a16:creationId xmlns:a16="http://schemas.microsoft.com/office/drawing/2014/main" id="{E7DA0B09-4476-D300-24F6-BC6B64FFC0A6}"/>
              </a:ext>
            </a:extLst>
          </p:cNvPr>
          <p:cNvPicPr>
            <a:picLocks noChangeAspect="1"/>
          </p:cNvPicPr>
          <p:nvPr/>
        </p:nvPicPr>
        <p:blipFill>
          <a:blip r:embed="rId2"/>
          <a:stretch>
            <a:fillRect/>
          </a:stretch>
        </p:blipFill>
        <p:spPr>
          <a:xfrm>
            <a:off x="518160" y="1307598"/>
            <a:ext cx="5577840" cy="518124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a:extLst>
              <a:ext uri="{FF2B5EF4-FFF2-40B4-BE49-F238E27FC236}">
                <a16:creationId xmlns:a16="http://schemas.microsoft.com/office/drawing/2014/main" id="{23B59A12-221C-E122-D048-6EB8D5E624D2}"/>
              </a:ext>
            </a:extLst>
          </p:cNvPr>
          <p:cNvSpPr txBox="1"/>
          <p:nvPr/>
        </p:nvSpPr>
        <p:spPr>
          <a:xfrm>
            <a:off x="1905000" y="614418"/>
            <a:ext cx="838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Income, Loan Amount &amp; Interest Rate</a:t>
            </a:r>
            <a:endParaRPr lang="en-IN"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Freeform 3">
            <a:extLst>
              <a:ext uri="{FF2B5EF4-FFF2-40B4-BE49-F238E27FC236}">
                <a16:creationId xmlns:a16="http://schemas.microsoft.com/office/drawing/2014/main" id="{7B25F4A2-9BDA-F15A-ACFD-BB73EDA32580}"/>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3445532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79DD5D-6316-2F8E-9E2E-4861F82FF699}"/>
              </a:ext>
            </a:extLst>
          </p:cNvPr>
          <p:cNvSpPr txBox="1"/>
          <p:nvPr/>
        </p:nvSpPr>
        <p:spPr>
          <a:xfrm>
            <a:off x="1895168" y="285147"/>
            <a:ext cx="838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Correlation Heatmap</a:t>
            </a:r>
            <a:endParaRPr lang="en-IN"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EE3F45FA-B584-765F-3446-29FBEBF91838}"/>
              </a:ext>
            </a:extLst>
          </p:cNvPr>
          <p:cNvSpPr txBox="1"/>
          <p:nvPr/>
        </p:nvSpPr>
        <p:spPr>
          <a:xfrm>
            <a:off x="6350730" y="1275888"/>
            <a:ext cx="5410198" cy="3908762"/>
          </a:xfrm>
          <a:prstGeom prst="rect">
            <a:avLst/>
          </a:prstGeom>
          <a:noFill/>
        </p:spPr>
        <p:txBody>
          <a:bodyPr wrap="square" rtlCol="0">
            <a:spAutoFit/>
          </a:bodyPr>
          <a:lstStyle/>
          <a:p>
            <a:pPr>
              <a:lnSpc>
                <a:spcPct val="115000"/>
              </a:lnSpc>
            </a:pPr>
            <a:r>
              <a:rPr lang="en-US" sz="2000" dirty="0">
                <a:solidFill>
                  <a:srgbClr val="16213A"/>
                </a:solidFill>
                <a:latin typeface="Calibri" pitchFamily="34" charset="0"/>
                <a:ea typeface="Calibri" pitchFamily="34" charset="-122"/>
                <a:cs typeface="Calibri" pitchFamily="34" charset="-120"/>
              </a:rPr>
              <a:t>A correlation heatmap was used to quantify linear relationships between all numerical variables at once.</a:t>
            </a:r>
            <a:endParaRPr lang="en-US" sz="2000" dirty="0"/>
          </a:p>
          <a:p>
            <a:pPr>
              <a:lnSpc>
                <a:spcPct val="115000"/>
              </a:lnSpc>
            </a:pPr>
            <a:endParaRPr lang="en-US" sz="2000" dirty="0"/>
          </a:p>
          <a:p>
            <a:pPr>
              <a:lnSpc>
                <a:spcPct val="115000"/>
              </a:lnSpc>
            </a:pPr>
            <a:r>
              <a:rPr lang="en-US" sz="2000" b="1" dirty="0">
                <a:solidFill>
                  <a:srgbClr val="16213A"/>
                </a:solidFill>
                <a:latin typeface="Calibri" pitchFamily="34" charset="0"/>
                <a:ea typeface="Calibri" pitchFamily="34" charset="-122"/>
                <a:cs typeface="Calibri" pitchFamily="34" charset="-120"/>
              </a:rPr>
              <a:t>Observation: </a:t>
            </a:r>
            <a:r>
              <a:rPr lang="en-US" sz="2000" dirty="0" err="1">
                <a:solidFill>
                  <a:srgbClr val="16213A"/>
                </a:solidFill>
                <a:latin typeface="Calibri" pitchFamily="34" charset="0"/>
                <a:ea typeface="Calibri" pitchFamily="34" charset="-122"/>
                <a:cs typeface="Calibri" pitchFamily="34" charset="-120"/>
              </a:rPr>
              <a:t>loan_amnt</a:t>
            </a:r>
            <a:r>
              <a:rPr lang="en-US" sz="2000" dirty="0">
                <a:solidFill>
                  <a:srgbClr val="16213A"/>
                </a:solidFill>
                <a:latin typeface="Calibri" pitchFamily="34" charset="0"/>
                <a:ea typeface="Calibri" pitchFamily="34" charset="-122"/>
                <a:cs typeface="Calibri" pitchFamily="34" charset="-120"/>
              </a:rPr>
              <a:t> and </a:t>
            </a:r>
            <a:r>
              <a:rPr lang="en-US" sz="2000" dirty="0" err="1">
                <a:solidFill>
                  <a:srgbClr val="16213A"/>
                </a:solidFill>
                <a:latin typeface="Calibri" pitchFamily="34" charset="0"/>
                <a:ea typeface="Calibri" pitchFamily="34" charset="-122"/>
                <a:cs typeface="Calibri" pitchFamily="34" charset="-120"/>
              </a:rPr>
              <a:t>loan_percent_income</a:t>
            </a:r>
            <a:r>
              <a:rPr lang="en-US" sz="2000" dirty="0">
                <a:solidFill>
                  <a:srgbClr val="16213A"/>
                </a:solidFill>
                <a:latin typeface="Calibri" pitchFamily="34" charset="0"/>
                <a:ea typeface="Calibri" pitchFamily="34" charset="-122"/>
                <a:cs typeface="Calibri" pitchFamily="34" charset="-120"/>
              </a:rPr>
              <a:t> show a notable positive correlation; </a:t>
            </a:r>
            <a:r>
              <a:rPr lang="en-US" sz="2000" dirty="0" err="1">
                <a:solidFill>
                  <a:srgbClr val="16213A"/>
                </a:solidFill>
                <a:latin typeface="Calibri" pitchFamily="34" charset="0"/>
                <a:ea typeface="Calibri" pitchFamily="34" charset="-122"/>
                <a:cs typeface="Calibri" pitchFamily="34" charset="-120"/>
              </a:rPr>
              <a:t>person_age</a:t>
            </a:r>
            <a:r>
              <a:rPr lang="en-US" sz="2000" dirty="0">
                <a:solidFill>
                  <a:srgbClr val="16213A"/>
                </a:solidFill>
                <a:latin typeface="Calibri" pitchFamily="34" charset="0"/>
                <a:ea typeface="Calibri" pitchFamily="34" charset="-122"/>
                <a:cs typeface="Calibri" pitchFamily="34" charset="-120"/>
              </a:rPr>
              <a:t> and </a:t>
            </a:r>
            <a:r>
              <a:rPr lang="en-US" sz="2000" dirty="0" err="1">
                <a:solidFill>
                  <a:srgbClr val="16213A"/>
                </a:solidFill>
                <a:latin typeface="Calibri" pitchFamily="34" charset="0"/>
                <a:ea typeface="Calibri" pitchFamily="34" charset="-122"/>
                <a:cs typeface="Calibri" pitchFamily="34" charset="-120"/>
              </a:rPr>
              <a:t>cb_person_cred_hist_length</a:t>
            </a:r>
            <a:r>
              <a:rPr lang="en-US" sz="2000" dirty="0">
                <a:solidFill>
                  <a:srgbClr val="16213A"/>
                </a:solidFill>
                <a:latin typeface="Calibri" pitchFamily="34" charset="0"/>
                <a:ea typeface="Calibri" pitchFamily="34" charset="-122"/>
                <a:cs typeface="Calibri" pitchFamily="34" charset="-120"/>
              </a:rPr>
              <a:t> are strongly correlated, as expected. These relationships guide feature selection for any future modelling.</a:t>
            </a:r>
            <a:endParaRPr lang="en-US" sz="2000" dirty="0"/>
          </a:p>
          <a:p>
            <a:endParaRPr lang="en-US" b="1" dirty="0">
              <a:latin typeface="Calibri" panose="020F0502020204030204" pitchFamily="34" charset="0"/>
              <a:ea typeface="Calibri" panose="020F0502020204030204" pitchFamily="34" charset="0"/>
              <a:cs typeface="Calibri" panose="020F0502020204030204" pitchFamily="34" charset="0"/>
            </a:endParaRPr>
          </a:p>
        </p:txBody>
      </p:sp>
      <p:pic>
        <p:nvPicPr>
          <p:cNvPr id="3" name="Image 0">
            <a:extLst>
              <a:ext uri="{FF2B5EF4-FFF2-40B4-BE49-F238E27FC236}">
                <a16:creationId xmlns:a16="http://schemas.microsoft.com/office/drawing/2014/main" id="{6E02F62D-985F-54C4-9E42-A6C3E9C8F3ED}"/>
              </a:ext>
            </a:extLst>
          </p:cNvPr>
          <p:cNvPicPr>
            <a:picLocks noChangeAspect="1"/>
          </p:cNvPicPr>
          <p:nvPr/>
        </p:nvPicPr>
        <p:blipFill>
          <a:blip r:embed="rId2"/>
          <a:stretch>
            <a:fillRect/>
          </a:stretch>
        </p:blipFill>
        <p:spPr>
          <a:xfrm>
            <a:off x="431072" y="1277644"/>
            <a:ext cx="5577840" cy="49953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Freeform 3">
            <a:extLst>
              <a:ext uri="{FF2B5EF4-FFF2-40B4-BE49-F238E27FC236}">
                <a16:creationId xmlns:a16="http://schemas.microsoft.com/office/drawing/2014/main" id="{F3B3B6FA-30CC-6157-3EA7-2E294355099A}"/>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711449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1BAFD0-B5E0-F8A8-E3DA-09A7238737D8}"/>
              </a:ext>
            </a:extLst>
          </p:cNvPr>
          <p:cNvSpPr txBox="1"/>
          <p:nvPr/>
        </p:nvSpPr>
        <p:spPr>
          <a:xfrm>
            <a:off x="6784259" y="1380045"/>
            <a:ext cx="4859944" cy="4062651"/>
          </a:xfrm>
          <a:prstGeom prst="rect">
            <a:avLst/>
          </a:prstGeom>
          <a:noFill/>
        </p:spPr>
        <p:txBody>
          <a:bodyPr wrap="square" rtlCol="0">
            <a:spAutoFit/>
          </a:bodyPr>
          <a:lstStyle/>
          <a:p>
            <a:pPr algn="just">
              <a:lnSpc>
                <a:spcPct val="115000"/>
              </a:lnSpc>
            </a:pPr>
            <a:r>
              <a:rPr lang="en-US" sz="2000" dirty="0">
                <a:solidFill>
                  <a:srgbClr val="16213A"/>
                </a:solidFill>
                <a:latin typeface="Calibri" pitchFamily="34" charset="0"/>
                <a:ea typeface="Calibri" pitchFamily="34" charset="-122"/>
                <a:cs typeface="Calibri" pitchFamily="34" charset="-120"/>
              </a:rPr>
              <a:t>This advanced scatter plot encodes four dimensions at once: income (x), loan amount (y), loan grade (</a:t>
            </a:r>
            <a:r>
              <a:rPr lang="en-US" sz="2000" dirty="0" err="1">
                <a:solidFill>
                  <a:srgbClr val="16213A"/>
                </a:solidFill>
                <a:latin typeface="Calibri" pitchFamily="34" charset="0"/>
                <a:ea typeface="Calibri" pitchFamily="34" charset="-122"/>
                <a:cs typeface="Calibri" pitchFamily="34" charset="-120"/>
              </a:rPr>
              <a:t>colour</a:t>
            </a:r>
            <a:r>
              <a:rPr lang="en-US" sz="2000" dirty="0">
                <a:solidFill>
                  <a:srgbClr val="16213A"/>
                </a:solidFill>
                <a:latin typeface="Calibri" pitchFamily="34" charset="0"/>
                <a:ea typeface="Calibri" pitchFamily="34" charset="-122"/>
                <a:cs typeface="Calibri" pitchFamily="34" charset="-120"/>
              </a:rPr>
              <a:t>) and loan-percent-income (point size).</a:t>
            </a:r>
            <a:endParaRPr lang="en-US" sz="2000" dirty="0"/>
          </a:p>
          <a:p>
            <a:pPr algn="just">
              <a:lnSpc>
                <a:spcPct val="115000"/>
              </a:lnSpc>
            </a:pPr>
            <a:endParaRPr lang="en-US" sz="2000" dirty="0"/>
          </a:p>
          <a:p>
            <a:pPr algn="just">
              <a:lnSpc>
                <a:spcPct val="115000"/>
              </a:lnSpc>
            </a:pPr>
            <a:r>
              <a:rPr lang="en-US" sz="2000" b="1" dirty="0">
                <a:solidFill>
                  <a:srgbClr val="16213A"/>
                </a:solidFill>
                <a:latin typeface="Calibri" pitchFamily="34" charset="0"/>
                <a:ea typeface="Calibri" pitchFamily="34" charset="-122"/>
                <a:cs typeface="Calibri" pitchFamily="34" charset="-120"/>
              </a:rPr>
              <a:t>Observation: </a:t>
            </a:r>
            <a:r>
              <a:rPr lang="en-US" sz="2000" dirty="0">
                <a:solidFill>
                  <a:srgbClr val="16213A"/>
                </a:solidFill>
                <a:latin typeface="Calibri" pitchFamily="34" charset="0"/>
                <a:ea typeface="Calibri" pitchFamily="34" charset="-122"/>
                <a:cs typeface="Calibri" pitchFamily="34" charset="-120"/>
              </a:rPr>
              <a:t>Higher grades (A/B) cluster at lower loan-to-income ratios; lower grades show larger, riskier loan sizes relative to income — multiple risk factors compounding together.</a:t>
            </a:r>
            <a:endParaRPr lang="en-US" sz="2000" dirty="0"/>
          </a:p>
          <a:p>
            <a:pPr algn="just"/>
            <a:endParaRPr lang="en-IN" sz="2800" dirty="0">
              <a:latin typeface="Calibri" panose="020F0502020204030204" pitchFamily="34" charset="0"/>
              <a:ea typeface="Calibri" panose="020F0502020204030204" pitchFamily="34" charset="0"/>
              <a:cs typeface="Calibri" panose="020F0502020204030204" pitchFamily="34" charset="0"/>
            </a:endParaRPr>
          </a:p>
        </p:txBody>
      </p:sp>
      <p:pic>
        <p:nvPicPr>
          <p:cNvPr id="4" name="Image 0">
            <a:extLst>
              <a:ext uri="{FF2B5EF4-FFF2-40B4-BE49-F238E27FC236}">
                <a16:creationId xmlns:a16="http://schemas.microsoft.com/office/drawing/2014/main" id="{1671C906-9408-3BB4-89CF-0921BB1A3A9D}"/>
              </a:ext>
            </a:extLst>
          </p:cNvPr>
          <p:cNvPicPr>
            <a:picLocks noChangeAspect="1"/>
          </p:cNvPicPr>
          <p:nvPr/>
        </p:nvPicPr>
        <p:blipFill>
          <a:blip r:embed="rId2"/>
          <a:stretch>
            <a:fillRect/>
          </a:stretch>
        </p:blipFill>
        <p:spPr>
          <a:xfrm>
            <a:off x="547799" y="1291556"/>
            <a:ext cx="5548202" cy="47031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A00AAC7C-C7C9-5E52-FF8B-061E26E0C9FB}"/>
              </a:ext>
            </a:extLst>
          </p:cNvPr>
          <p:cNvSpPr txBox="1"/>
          <p:nvPr/>
        </p:nvSpPr>
        <p:spPr>
          <a:xfrm>
            <a:off x="1345790" y="349106"/>
            <a:ext cx="9500419" cy="523220"/>
          </a:xfrm>
          <a:prstGeom prst="rect">
            <a:avLst/>
          </a:prstGeom>
          <a:noFill/>
        </p:spPr>
        <p:txBody>
          <a:bodyPr wrap="square" rtlCol="0">
            <a:spAutoFit/>
          </a:bodyPr>
          <a:lstStyle/>
          <a:p>
            <a:pPr algn="ctr"/>
            <a:r>
              <a:rPr lang="en-US" sz="2800" b="1" dirty="0">
                <a:solidFill>
                  <a:srgbClr val="FF0000"/>
                </a:solidFill>
                <a:latin typeface="Cambria" pitchFamily="34" charset="0"/>
                <a:ea typeface="Cambria" pitchFamily="34" charset="-122"/>
                <a:cs typeface="Cambria" pitchFamily="34" charset="-120"/>
              </a:rPr>
              <a:t>Income vs Loan Amount by Loan Grade &amp; % Income</a:t>
            </a:r>
            <a:endParaRPr lang="en-IN"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Freeform 3">
            <a:extLst>
              <a:ext uri="{FF2B5EF4-FFF2-40B4-BE49-F238E27FC236}">
                <a16:creationId xmlns:a16="http://schemas.microsoft.com/office/drawing/2014/main" id="{DA7F628E-BBD9-A2DE-397C-728813C7835F}"/>
              </a:ext>
            </a:extLst>
          </p:cNvPr>
          <p:cNvSpPr/>
          <p:nvPr/>
        </p:nvSpPr>
        <p:spPr>
          <a:xfrm>
            <a:off x="8653777" y="6119692"/>
            <a:ext cx="3538223" cy="738308"/>
          </a:xfrm>
          <a:custGeom>
            <a:avLst/>
            <a:gdLst/>
            <a:ahLst/>
            <a:cxnLst/>
            <a:rect l="l" t="t" r="r" b="b"/>
            <a:pathLst>
              <a:path w="6450838" h="1346073">
                <a:moveTo>
                  <a:pt x="0" y="0"/>
                </a:moveTo>
                <a:lnTo>
                  <a:pt x="6450838" y="0"/>
                </a:lnTo>
                <a:lnTo>
                  <a:pt x="6450838" y="1346073"/>
                </a:lnTo>
                <a:lnTo>
                  <a:pt x="0" y="1346073"/>
                </a:lnTo>
                <a:lnTo>
                  <a:pt x="0" y="0"/>
                </a:lnTo>
                <a:close/>
              </a:path>
            </a:pathLst>
          </a:custGeom>
          <a:blipFill>
            <a:blip r:embed="rId3"/>
            <a:stretch>
              <a:fillRect b="3"/>
            </a:stretch>
          </a:blipFill>
        </p:spPr>
        <p:txBody>
          <a:bodyPr/>
          <a:lstStyle/>
          <a:p>
            <a:endParaRPr lang="en-IN"/>
          </a:p>
        </p:txBody>
      </p:sp>
    </p:spTree>
    <p:extLst>
      <p:ext uri="{BB962C8B-B14F-4D97-AF65-F5344CB8AC3E}">
        <p14:creationId xmlns:p14="http://schemas.microsoft.com/office/powerpoint/2010/main" val="2917306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74EB46-5B19-D68D-CE64-40CE5A346EBA}"/>
              </a:ext>
            </a:extLst>
          </p:cNvPr>
          <p:cNvSpPr txBox="1"/>
          <p:nvPr/>
        </p:nvSpPr>
        <p:spPr>
          <a:xfrm>
            <a:off x="1571929" y="519806"/>
            <a:ext cx="9500419" cy="523220"/>
          </a:xfrm>
          <a:prstGeom prst="rect">
            <a:avLst/>
          </a:prstGeom>
          <a:noFill/>
        </p:spPr>
        <p:txBody>
          <a:bodyPr wrap="square" rtlCol="0">
            <a:spAutoFit/>
          </a:bodyPr>
          <a:lstStyle/>
          <a:p>
            <a:pPr algn="ctr"/>
            <a:r>
              <a:rPr lang="en-IN"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Key Insights at a Glance</a:t>
            </a:r>
          </a:p>
        </p:txBody>
      </p:sp>
      <p:sp>
        <p:nvSpPr>
          <p:cNvPr id="3" name="TextBox 2">
            <a:extLst>
              <a:ext uri="{FF2B5EF4-FFF2-40B4-BE49-F238E27FC236}">
                <a16:creationId xmlns:a16="http://schemas.microsoft.com/office/drawing/2014/main" id="{D38D516E-686F-1F0B-0AAA-E89D87C67F94}"/>
              </a:ext>
            </a:extLst>
          </p:cNvPr>
          <p:cNvSpPr txBox="1"/>
          <p:nvPr/>
        </p:nvSpPr>
        <p:spPr>
          <a:xfrm>
            <a:off x="1257913" y="1201788"/>
            <a:ext cx="10128453" cy="4613186"/>
          </a:xfrm>
          <a:prstGeom prst="rect">
            <a:avLst/>
          </a:prstGeom>
          <a:noFill/>
        </p:spPr>
        <p:txBody>
          <a:bodyPr wrap="square">
            <a:spAutoFit/>
          </a:bodyPr>
          <a:lstStyle/>
          <a:p>
            <a:pPr marL="342900" indent="-342900" algn="just">
              <a:lnSpc>
                <a:spcPct val="150000"/>
              </a:lnSpc>
              <a:buFont typeface="+mj-lt"/>
              <a:buAutoNum type="arabicPeriod"/>
            </a:pPr>
            <a:r>
              <a:rPr lang="en-US" sz="2200" dirty="0">
                <a:latin typeface="Calibri" pitchFamily="34" charset="0"/>
                <a:ea typeface="Calibri" pitchFamily="34" charset="-122"/>
                <a:cs typeface="Calibri" pitchFamily="34" charset="-120"/>
              </a:rPr>
              <a:t>Loan grade is the strongest predictor of approval outcome — risk rises steadily from A to G.</a:t>
            </a:r>
          </a:p>
          <a:p>
            <a:pPr marL="342900" indent="-342900" algn="just">
              <a:lnSpc>
                <a:spcPct val="150000"/>
              </a:lnSpc>
              <a:buFont typeface="+mj-lt"/>
              <a:buAutoNum type="arabicPeriod"/>
            </a:pPr>
            <a:r>
              <a:rPr lang="en-US" sz="2200" dirty="0">
                <a:latin typeface="Calibri" pitchFamily="34" charset="0"/>
                <a:ea typeface="Calibri" pitchFamily="34" charset="-122"/>
                <a:cs typeface="Calibri" pitchFamily="34" charset="-120"/>
              </a:rPr>
              <a:t>Income and loan amount are positively related, but </a:t>
            </a:r>
            <a:r>
              <a:rPr lang="en-US" sz="2200" dirty="0" err="1">
                <a:latin typeface="Calibri" pitchFamily="34" charset="0"/>
                <a:ea typeface="Calibri" pitchFamily="34" charset="-122"/>
                <a:cs typeface="Calibri" pitchFamily="34" charset="-120"/>
              </a:rPr>
              <a:t>loan_intent</a:t>
            </a:r>
            <a:r>
              <a:rPr lang="en-US" sz="2200" dirty="0">
                <a:latin typeface="Calibri" pitchFamily="34" charset="0"/>
                <a:ea typeface="Calibri" pitchFamily="34" charset="-122"/>
                <a:cs typeface="Calibri" pitchFamily="34" charset="-120"/>
              </a:rPr>
              <a:t> and grade also shape loan size.</a:t>
            </a:r>
            <a:endParaRPr lang="en-US" sz="2200" dirty="0"/>
          </a:p>
          <a:p>
            <a:pPr marL="342900" indent="-342900" algn="just">
              <a:lnSpc>
                <a:spcPct val="150000"/>
              </a:lnSpc>
              <a:buFont typeface="+mj-lt"/>
              <a:buAutoNum type="arabicPeriod"/>
            </a:pPr>
            <a:r>
              <a:rPr lang="en-US" sz="2200" dirty="0">
                <a:latin typeface="Calibri" pitchFamily="34" charset="0"/>
                <a:ea typeface="Calibri" pitchFamily="34" charset="-122"/>
                <a:cs typeface="Calibri" pitchFamily="34" charset="-120"/>
              </a:rPr>
              <a:t>Dataset is imbalanced toward one loan-status class — relevant for future modelling.</a:t>
            </a:r>
            <a:endParaRPr lang="en-US" sz="2200" dirty="0"/>
          </a:p>
          <a:p>
            <a:pPr marL="342900" indent="-342900" algn="just">
              <a:lnSpc>
                <a:spcPct val="150000"/>
              </a:lnSpc>
              <a:buFont typeface="+mj-lt"/>
              <a:buAutoNum type="arabicPeriod"/>
            </a:pPr>
            <a:r>
              <a:rPr lang="en-US" sz="2200" dirty="0">
                <a:latin typeface="Calibri" pitchFamily="34" charset="0"/>
                <a:ea typeface="Calibri" pitchFamily="34" charset="-122"/>
                <a:cs typeface="Calibri" pitchFamily="34" charset="-120"/>
              </a:rPr>
              <a:t>Renters show comparatively higher non-approval rates than mortgage holders.</a:t>
            </a:r>
            <a:endParaRPr lang="en-US" sz="2200" dirty="0"/>
          </a:p>
          <a:p>
            <a:pPr marL="342900" indent="-342900" algn="just">
              <a:lnSpc>
                <a:spcPct val="150000"/>
              </a:lnSpc>
              <a:buFont typeface="+mj-lt"/>
              <a:buAutoNum type="arabicPeriod"/>
            </a:pPr>
            <a:r>
              <a:rPr lang="en-US" sz="2200" dirty="0">
                <a:latin typeface="Calibri" pitchFamily="34" charset="0"/>
                <a:ea typeface="Calibri" pitchFamily="34" charset="-122"/>
                <a:cs typeface="Calibri" pitchFamily="34" charset="-120"/>
              </a:rPr>
              <a:t>Higher interest rates correlate with the 'Not Approved' outcome group.</a:t>
            </a:r>
            <a:endParaRPr lang="en-US" sz="2200" dirty="0"/>
          </a:p>
          <a:p>
            <a:pPr marL="342900" indent="-342900" algn="just">
              <a:lnSpc>
                <a:spcPct val="150000"/>
              </a:lnSpc>
              <a:buFont typeface="+mj-lt"/>
              <a:buAutoNum type="arabicPeriod"/>
            </a:pPr>
            <a:r>
              <a:rPr lang="en-US" sz="2200" dirty="0">
                <a:latin typeface="Calibri" pitchFamily="34" charset="0"/>
                <a:ea typeface="Calibri" pitchFamily="34" charset="-122"/>
                <a:cs typeface="Calibri" pitchFamily="34" charset="-120"/>
              </a:rPr>
              <a:t>Missing values and outliers were handled carefully to preserve genuine financial extremes.</a:t>
            </a:r>
            <a:endParaRPr lang="en-US" sz="2200" dirty="0"/>
          </a:p>
        </p:txBody>
      </p:sp>
    </p:spTree>
    <p:extLst>
      <p:ext uri="{BB962C8B-B14F-4D97-AF65-F5344CB8AC3E}">
        <p14:creationId xmlns:p14="http://schemas.microsoft.com/office/powerpoint/2010/main" val="2056250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7BD098-99AF-C3CC-363B-39D3F7884C4D}"/>
              </a:ext>
            </a:extLst>
          </p:cNvPr>
          <p:cNvSpPr txBox="1"/>
          <p:nvPr/>
        </p:nvSpPr>
        <p:spPr>
          <a:xfrm>
            <a:off x="1905000" y="378444"/>
            <a:ext cx="8382000" cy="523220"/>
          </a:xfrm>
          <a:prstGeom prst="rect">
            <a:avLst/>
          </a:prstGeom>
          <a:noFill/>
        </p:spPr>
        <p:txBody>
          <a:bodyPr wrap="square" rtlCol="0">
            <a:spAutoFit/>
          </a:bodyPr>
          <a:lstStyle/>
          <a:p>
            <a:pPr algn="ctr"/>
            <a:r>
              <a:rPr lang="en-US" sz="28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Final Insights &amp; Learning</a:t>
            </a:r>
          </a:p>
        </p:txBody>
      </p:sp>
      <p:sp>
        <p:nvSpPr>
          <p:cNvPr id="6" name="TextBox 5">
            <a:extLst>
              <a:ext uri="{FF2B5EF4-FFF2-40B4-BE49-F238E27FC236}">
                <a16:creationId xmlns:a16="http://schemas.microsoft.com/office/drawing/2014/main" id="{0E7E6245-5C8D-1673-7E42-6DFE87A2081C}"/>
              </a:ext>
            </a:extLst>
          </p:cNvPr>
          <p:cNvSpPr txBox="1"/>
          <p:nvPr/>
        </p:nvSpPr>
        <p:spPr>
          <a:xfrm>
            <a:off x="1251155" y="1038848"/>
            <a:ext cx="9583993" cy="2129173"/>
          </a:xfrm>
          <a:prstGeom prst="rect">
            <a:avLst/>
          </a:prstGeom>
          <a:noFill/>
        </p:spPr>
        <p:txBody>
          <a:bodyPr wrap="square" rtlCol="0">
            <a:spAutoFit/>
          </a:bodyPr>
          <a:lstStyle/>
          <a:p>
            <a:pPr algn="just">
              <a:lnSpc>
                <a:spcPct val="150000"/>
              </a:lnSpc>
            </a:pPr>
            <a:r>
              <a:rPr lang="en-US" b="1" kern="0" spc="100" dirty="0">
                <a:solidFill>
                  <a:srgbClr val="1E2F5C"/>
                </a:solidFill>
                <a:latin typeface="Calibri" pitchFamily="34" charset="0"/>
                <a:ea typeface="Calibri" pitchFamily="34" charset="-122"/>
                <a:cs typeface="Calibri" pitchFamily="34" charset="-120"/>
              </a:rPr>
              <a:t>FINAL INSIGHTS: </a:t>
            </a:r>
            <a:endParaRPr lang="en-US" dirty="0"/>
          </a:p>
          <a:p>
            <a:pPr algn="just">
              <a:lnSpc>
                <a:spcPct val="150000"/>
              </a:lnSpc>
            </a:pPr>
            <a:r>
              <a:rPr lang="en-US" dirty="0">
                <a:solidFill>
                  <a:srgbClr val="16213A"/>
                </a:solidFill>
                <a:latin typeface="Calibri" pitchFamily="34" charset="0"/>
                <a:ea typeface="Calibri" pitchFamily="34" charset="-122"/>
                <a:cs typeface="Calibri" pitchFamily="34" charset="-120"/>
              </a:rPr>
              <a:t>The EDA confirms that credit risk is shaped by a combination of factors — loan grade, interest rate, loan-to-income ratio, and home ownership — rather than any single variable. Lower-grade, higher loan-to-income borrowers consistently show greater risk of non-approval, validating the dataset's real-world credibility for risk modelling.</a:t>
            </a:r>
            <a:endParaRPr lang="en-US" dirty="0"/>
          </a:p>
        </p:txBody>
      </p:sp>
      <p:sp>
        <p:nvSpPr>
          <p:cNvPr id="2" name="TextBox 1">
            <a:extLst>
              <a:ext uri="{FF2B5EF4-FFF2-40B4-BE49-F238E27FC236}">
                <a16:creationId xmlns:a16="http://schemas.microsoft.com/office/drawing/2014/main" id="{88F21533-7D32-69E6-C845-A6606E644DD9}"/>
              </a:ext>
            </a:extLst>
          </p:cNvPr>
          <p:cNvSpPr txBox="1"/>
          <p:nvPr/>
        </p:nvSpPr>
        <p:spPr>
          <a:xfrm>
            <a:off x="1251155" y="3465871"/>
            <a:ext cx="9583993" cy="2544671"/>
          </a:xfrm>
          <a:prstGeom prst="rect">
            <a:avLst/>
          </a:prstGeom>
          <a:noFill/>
        </p:spPr>
        <p:txBody>
          <a:bodyPr wrap="square" rtlCol="0">
            <a:spAutoFit/>
          </a:bodyPr>
          <a:lstStyle/>
          <a:p>
            <a:pPr>
              <a:lnSpc>
                <a:spcPct val="150000"/>
              </a:lnSpc>
            </a:pPr>
            <a:r>
              <a:rPr lang="en-US" b="1" kern="0" spc="100" dirty="0">
                <a:solidFill>
                  <a:srgbClr val="1E2F5C"/>
                </a:solidFill>
                <a:latin typeface="Calibri" pitchFamily="34" charset="0"/>
                <a:ea typeface="Calibri" pitchFamily="34" charset="-122"/>
                <a:cs typeface="Calibri" pitchFamily="34" charset="-120"/>
              </a:rPr>
              <a:t>LEARNINGS FROM THE PROJECT:</a:t>
            </a:r>
            <a:endParaRPr lang="en-US" b="1" dirty="0"/>
          </a:p>
          <a:p>
            <a:pPr>
              <a:lnSpc>
                <a:spcPct val="150000"/>
              </a:lnSpc>
            </a:pPr>
            <a:r>
              <a:rPr lang="en-US" dirty="0">
                <a:solidFill>
                  <a:srgbClr val="16213A"/>
                </a:solidFill>
                <a:latin typeface="Calibri" pitchFamily="34" charset="0"/>
                <a:ea typeface="Calibri" pitchFamily="34" charset="-122"/>
                <a:cs typeface="Calibri" pitchFamily="34" charset="-120"/>
              </a:rPr>
              <a:t>• Hands-on experience with the full EDA pipeline: cleaning, univariate, bivariate and multivariate analysis.</a:t>
            </a:r>
            <a:endParaRPr lang="en-US" dirty="0"/>
          </a:p>
          <a:p>
            <a:pPr>
              <a:lnSpc>
                <a:spcPct val="150000"/>
              </a:lnSpc>
            </a:pPr>
            <a:r>
              <a:rPr lang="en-US" dirty="0">
                <a:solidFill>
                  <a:srgbClr val="16213A"/>
                </a:solidFill>
                <a:latin typeface="Calibri" pitchFamily="34" charset="0"/>
                <a:ea typeface="Calibri" pitchFamily="34" charset="-122"/>
                <a:cs typeface="Calibri" pitchFamily="34" charset="-120"/>
              </a:rPr>
              <a:t>• Learned to apply context-aware outlier handling instead of blanket removal.</a:t>
            </a:r>
            <a:endParaRPr lang="en-US" dirty="0"/>
          </a:p>
          <a:p>
            <a:pPr>
              <a:lnSpc>
                <a:spcPct val="150000"/>
              </a:lnSpc>
            </a:pPr>
            <a:r>
              <a:rPr lang="en-US" dirty="0">
                <a:solidFill>
                  <a:srgbClr val="16213A"/>
                </a:solidFill>
                <a:latin typeface="Calibri" pitchFamily="34" charset="0"/>
                <a:ea typeface="Calibri" pitchFamily="34" charset="-122"/>
                <a:cs typeface="Calibri" pitchFamily="34" charset="-120"/>
              </a:rPr>
              <a:t>• Strengthened skills in seaborn/matplotlib visual storytelling.</a:t>
            </a:r>
            <a:endParaRPr lang="en-US" dirty="0"/>
          </a:p>
          <a:p>
            <a:pPr>
              <a:lnSpc>
                <a:spcPct val="150000"/>
              </a:lnSpc>
            </a:pPr>
            <a:r>
              <a:rPr lang="en-US" dirty="0">
                <a:solidFill>
                  <a:srgbClr val="16213A"/>
                </a:solidFill>
                <a:latin typeface="Calibri" pitchFamily="34" charset="0"/>
                <a:ea typeface="Calibri" pitchFamily="34" charset="-122"/>
                <a:cs typeface="Calibri" pitchFamily="34" charset="-120"/>
              </a:rPr>
              <a:t>• Understood how pivot tables complement visual analysis for business insight.</a:t>
            </a:r>
            <a:endParaRPr lang="en-US" dirty="0"/>
          </a:p>
        </p:txBody>
      </p:sp>
    </p:spTree>
    <p:extLst>
      <p:ext uri="{BB962C8B-B14F-4D97-AF65-F5344CB8AC3E}">
        <p14:creationId xmlns:p14="http://schemas.microsoft.com/office/powerpoint/2010/main" val="3758893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56683" y="2235468"/>
            <a:ext cx="4465643" cy="2834317"/>
          </a:xfrm>
          <a:prstGeom prst="rect">
            <a:avLst/>
          </a:prstGeom>
          <a:noFill/>
          <a:ln>
            <a:noFill/>
          </a:ln>
        </p:spPr>
      </p:pic>
      <p:sp>
        <p:nvSpPr>
          <p:cNvPr id="117" name="Google Shape;117;p5"/>
          <p:cNvSpPr txBox="1"/>
          <p:nvPr/>
        </p:nvSpPr>
        <p:spPr>
          <a:xfrm>
            <a:off x="2257322" y="2883186"/>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1882</TotalTime>
  <Words>1377</Words>
  <Application>Microsoft Office PowerPoint</Application>
  <PresentationFormat>Widescreen</PresentationFormat>
  <Paragraphs>125</Paragraphs>
  <Slides>22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Arial </vt:lpstr>
      <vt:lpstr>Calibri</vt:lpstr>
      <vt:lpstr>Cambria</vt:lpstr>
      <vt:lpstr>Libre Baskerville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Mohit Chaudhari</cp:lastModifiedBy>
  <cp:revision>25</cp:revision>
  <dcterms:created xsi:type="dcterms:W3CDTF">2021-02-16T05:19:01Z</dcterms:created>
  <dcterms:modified xsi:type="dcterms:W3CDTF">2026-06-22T18:29:51Z</dcterms:modified>
</cp:coreProperties>
</file>