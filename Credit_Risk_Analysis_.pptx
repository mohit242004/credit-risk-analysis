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07" r:id="rId1"/>
  </p:sldMasterIdLst>
  <p:notesMasterIdLst>
    <p:notesMasterId r:id="rId24"/>
  </p:notesMasterIdLst>
  <p:sldIdLst>
    <p:sldId id="286" r:id="rId2"/>
    <p:sldId id="260" r:id="rId3"/>
    <p:sldId id="261" r:id="rId4"/>
    <p:sldId id="291" r:id="rId5"/>
    <p:sldId id="292" r:id="rId6"/>
    <p:sldId id="293" r:id="rId7"/>
    <p:sldId id="294" r:id="rId8"/>
    <p:sldId id="287" r:id="rId9"/>
    <p:sldId id="295" r:id="rId10"/>
    <p:sldId id="296" r:id="rId11"/>
    <p:sldId id="271" r:id="rId12"/>
    <p:sldId id="288" r:id="rId13"/>
    <p:sldId id="289" r:id="rId14"/>
    <p:sldId id="297" r:id="rId15"/>
    <p:sldId id="272" r:id="rId16"/>
    <p:sldId id="273" r:id="rId17"/>
    <p:sldId id="298" r:id="rId18"/>
    <p:sldId id="281" r:id="rId19"/>
    <p:sldId id="278" r:id="rId20"/>
    <p:sldId id="282" r:id="rId21"/>
    <p:sldId id="290" r:id="rId22"/>
    <p:sldId id="25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hnFQsu0qTBRZ+C47HNp0tuHCNko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660"/>
  </p:normalViewPr>
  <p:slideViewPr>
    <p:cSldViewPr snapToGrid="0">
      <p:cViewPr varScale="1">
        <p:scale>
          <a:sx n="78" d="100"/>
          <a:sy n="78" d="100"/>
        </p:scale>
        <p:origin x="926"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91923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70591097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42655071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375734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3651065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126782929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4004647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5100900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334785483"/>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82740237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10389045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81382825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389390657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61343359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2503341655"/>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15603755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6800566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794704923"/>
      </p:ext>
    </p:extLst>
  </p:cSld>
  <p:clrMap bg1="lt1" tx1="dk1" bg2="lt2" tx2="dk2" accent1="accent1" accent2="accent2" accent3="accent3" accent4="accent4" accent5="accent5" accent6="accent6" hlink="hlink" folHlink="folHlink"/>
  <p:sldLayoutIdLst>
    <p:sldLayoutId id="2147483808" r:id="rId1"/>
    <p:sldLayoutId id="2147483809" r:id="rId2"/>
    <p:sldLayoutId id="2147483810" r:id="rId3"/>
    <p:sldLayoutId id="2147483811" r:id="rId4"/>
    <p:sldLayoutId id="2147483812" r:id="rId5"/>
    <p:sldLayoutId id="2147483813" r:id="rId6"/>
    <p:sldLayoutId id="2147483814" r:id="rId7"/>
    <p:sldLayoutId id="2147483815" r:id="rId8"/>
    <p:sldLayoutId id="2147483816" r:id="rId9"/>
    <p:sldLayoutId id="2147483817" r:id="rId10"/>
    <p:sldLayoutId id="2147483818" r:id="rId11"/>
    <p:sldLayoutId id="2147483819" r:id="rId12"/>
    <p:sldLayoutId id="2147483820" r:id="rId13"/>
    <p:sldLayoutId id="2147483821" r:id="rId14"/>
    <p:sldLayoutId id="2147483822" r:id="rId15"/>
    <p:sldLayoutId id="2147483823" r:id="rId16"/>
    <p:sldLayoutId id="2147483824" r:id="rId17"/>
  </p:sldLayoutIdLst>
  <p:hf sldNum="0" hdr="0" ftr="0" dt="0"/>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Mohit242004" TargetMode="External"/><Relationship Id="rId2" Type="http://schemas.openxmlformats.org/officeDocument/2006/relationships/hyperlink" Target="https://www.linkedin.com/in/mohit-chaudhari-028301259/"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gi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98;p1">
            <a:extLst>
              <a:ext uri="{FF2B5EF4-FFF2-40B4-BE49-F238E27FC236}">
                <a16:creationId xmlns:a16="http://schemas.microsoft.com/office/drawing/2014/main" id="{389DC2F6-EF02-01DD-C14A-B52D037F20A4}"/>
              </a:ext>
            </a:extLst>
          </p:cNvPr>
          <p:cNvPicPr preferRelativeResize="0"/>
          <p:nvPr/>
        </p:nvPicPr>
        <p:blipFill rotWithShape="1">
          <a:blip r:embed="rId2">
            <a:alphaModFix/>
          </a:blip>
          <a:srcRect/>
          <a:stretch/>
        </p:blipFill>
        <p:spPr>
          <a:xfrm>
            <a:off x="592" y="0"/>
            <a:ext cx="12190815" cy="6869944"/>
          </a:xfrm>
          <a:prstGeom prst="rect">
            <a:avLst/>
          </a:prstGeom>
          <a:noFill/>
          <a:ln>
            <a:noFill/>
          </a:ln>
        </p:spPr>
      </p:pic>
      <p:sp>
        <p:nvSpPr>
          <p:cNvPr id="3" name="TextBox 2">
            <a:extLst>
              <a:ext uri="{FF2B5EF4-FFF2-40B4-BE49-F238E27FC236}">
                <a16:creationId xmlns:a16="http://schemas.microsoft.com/office/drawing/2014/main" id="{E68FB310-58C4-09D0-E281-6DABCE1A5703}"/>
              </a:ext>
            </a:extLst>
          </p:cNvPr>
          <p:cNvSpPr txBox="1"/>
          <p:nvPr/>
        </p:nvSpPr>
        <p:spPr>
          <a:xfrm>
            <a:off x="3287483" y="3678825"/>
            <a:ext cx="5617029" cy="1261884"/>
          </a:xfrm>
          <a:prstGeom prst="rect">
            <a:avLst/>
          </a:prstGeom>
          <a:noFill/>
        </p:spPr>
        <p:txBody>
          <a:bodyPr wrap="square" rtlCol="0">
            <a:spAutoFit/>
          </a:bodyPr>
          <a:lstStyle/>
          <a:p>
            <a:pPr algn="ctr"/>
            <a:r>
              <a:rPr lang="en-IN" sz="2800" b="1" dirty="0">
                <a:latin typeface="Times New Roman"/>
                <a:ea typeface="Calibri"/>
                <a:cs typeface="Times New Roman"/>
              </a:rPr>
              <a:t>EDA On Credit Risk Analysis</a:t>
            </a:r>
          </a:p>
          <a:p>
            <a:pPr algn="ctr"/>
            <a:endParaRPr lang="en-IN" sz="2400" b="1" dirty="0">
              <a:latin typeface="Times New Roman"/>
              <a:ea typeface="Calibri"/>
              <a:cs typeface="Times New Roman"/>
            </a:endParaRPr>
          </a:p>
          <a:p>
            <a:pPr algn="ctr"/>
            <a:endParaRPr lang="en-IN" sz="2400" dirty="0">
              <a:latin typeface="Calibri" panose="020F0502020204030204" pitchFamily="34" charset="0"/>
              <a:ea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813956A7-8517-BBB2-8A86-65838653A627}"/>
              </a:ext>
            </a:extLst>
          </p:cNvPr>
          <p:cNvSpPr txBox="1"/>
          <p:nvPr/>
        </p:nvSpPr>
        <p:spPr>
          <a:xfrm>
            <a:off x="4256312" y="4797331"/>
            <a:ext cx="3679372" cy="707886"/>
          </a:xfrm>
          <a:prstGeom prst="rect">
            <a:avLst/>
          </a:prstGeom>
          <a:noFill/>
        </p:spPr>
        <p:txBody>
          <a:bodyPr wrap="square" rtlCol="0">
            <a:spAutoFit/>
          </a:bodyPr>
          <a:lstStyle/>
          <a:p>
            <a:pPr algn="ctr"/>
            <a:r>
              <a:rPr lang="en-US" sz="2000" b="1" dirty="0">
                <a:solidFill>
                  <a:srgbClr val="C00000"/>
                </a:solidFill>
                <a:latin typeface="Times New Roman" panose="02020603050405020304" pitchFamily="18" charset="0"/>
                <a:ea typeface="Calibri" panose="020F0502020204030204" pitchFamily="34" charset="0"/>
                <a:cs typeface="Times New Roman" panose="02020603050405020304" pitchFamily="18" charset="0"/>
              </a:rPr>
              <a:t>Presented By:</a:t>
            </a:r>
            <a:endParaRPr lang="en-US" sz="2000" b="1" dirty="0">
              <a:latin typeface="Times New Roman" panose="02020603050405020304" pitchFamily="18" charset="0"/>
              <a:ea typeface="Calibri" panose="020F0502020204030204" pitchFamily="34" charset="0"/>
              <a:cs typeface="Times New Roman" panose="02020603050405020304" pitchFamily="18" charset="0"/>
            </a:endParaRPr>
          </a:p>
          <a:p>
            <a:pPr algn="ctr"/>
            <a:r>
              <a:rPr lang="en-US" sz="2000" b="1" dirty="0">
                <a:latin typeface="Times New Roman" panose="02020603050405020304" pitchFamily="18" charset="0"/>
                <a:ea typeface="Calibri" panose="020F0502020204030204" pitchFamily="34" charset="0"/>
                <a:cs typeface="Times New Roman" panose="02020603050405020304" pitchFamily="18" charset="0"/>
              </a:rPr>
              <a:t>Mohit Chaudhari</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613327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6CD6F4-AE36-9219-A71C-FDE3A172023A}"/>
              </a:ext>
            </a:extLst>
          </p:cNvPr>
          <p:cNvSpPr txBox="1"/>
          <p:nvPr/>
        </p:nvSpPr>
        <p:spPr>
          <a:xfrm>
            <a:off x="2074605" y="457200"/>
            <a:ext cx="9202995" cy="3631763"/>
          </a:xfrm>
          <a:prstGeom prst="rect">
            <a:avLst/>
          </a:prstGeom>
          <a:noFill/>
        </p:spPr>
        <p:txBody>
          <a:bodyPr wrap="square" rtlCol="0">
            <a:spAutoFit/>
          </a:bodyPr>
          <a:lstStyle/>
          <a:p>
            <a:pPr algn="ctr"/>
            <a:r>
              <a:rPr lang="en-IN" sz="3000" b="1" dirty="0">
                <a:solidFill>
                  <a:srgbClr val="FF0000"/>
                </a:solidFill>
                <a:latin typeface="Calibri" panose="020F0502020204030204" pitchFamily="34" charset="0"/>
                <a:ea typeface="Calibri" panose="020F0502020204030204" pitchFamily="34" charset="0"/>
                <a:cs typeface="Calibri" panose="020F0502020204030204" pitchFamily="34" charset="0"/>
              </a:rPr>
              <a:t>About me</a:t>
            </a:r>
          </a:p>
          <a:p>
            <a:pPr algn="ctr"/>
            <a:endParaRPr lang="en-IN" sz="2000" dirty="0">
              <a:solidFill>
                <a:srgbClr val="FF0000"/>
              </a:solidFill>
              <a:latin typeface="Calibri" panose="020F0502020204030204" pitchFamily="34" charset="0"/>
              <a:ea typeface="Calibri" panose="020F0502020204030204" pitchFamily="34" charset="0"/>
              <a:cs typeface="Calibri" panose="020F0502020204030204" pitchFamily="34" charset="0"/>
            </a:endParaRPr>
          </a:p>
          <a:p>
            <a:pPr algn="ctr"/>
            <a:endParaRPr lang="en-IN" sz="2000" dirty="0">
              <a:solidFill>
                <a:srgbClr val="FF0000"/>
              </a:solidFill>
              <a:latin typeface="Calibri" panose="020F0502020204030204" pitchFamily="34" charset="0"/>
              <a:ea typeface="Calibri" panose="020F0502020204030204" pitchFamily="34" charset="0"/>
              <a:cs typeface="Calibri" panose="020F0502020204030204" pitchFamily="34" charset="0"/>
            </a:endParaRPr>
          </a:p>
          <a:p>
            <a:pPr lvl="0" fontAlgn="base"/>
            <a:r>
              <a:rPr lang="en-IN" sz="2000" b="1" dirty="0">
                <a:latin typeface="Calibri" panose="020F0502020204030204" pitchFamily="34" charset="0"/>
                <a:ea typeface="Calibri" panose="020F0502020204030204" pitchFamily="34" charset="0"/>
                <a:cs typeface="Calibri" panose="020F0502020204030204" pitchFamily="34" charset="0"/>
              </a:rPr>
              <a:t>Educational Background </a:t>
            </a:r>
            <a:r>
              <a:rPr lang="en-IN" sz="2000" dirty="0">
                <a:latin typeface="Calibri" panose="020F0502020204030204" pitchFamily="34" charset="0"/>
                <a:ea typeface="Calibri" panose="020F0502020204030204" pitchFamily="34" charset="0"/>
                <a:cs typeface="Calibri" panose="020F0502020204030204" pitchFamily="34" charset="0"/>
              </a:rPr>
              <a:t>: </a:t>
            </a:r>
            <a:r>
              <a:rPr lang="en-IN" sz="2000" dirty="0" err="1">
                <a:latin typeface="Calibri" panose="020F0502020204030204" pitchFamily="34" charset="0"/>
                <a:ea typeface="Calibri" panose="020F0502020204030204" pitchFamily="34" charset="0"/>
                <a:cs typeface="Calibri" panose="020F0502020204030204" pitchFamily="34" charset="0"/>
              </a:rPr>
              <a:t>B.Tech</a:t>
            </a:r>
            <a:r>
              <a:rPr lang="en-IN" sz="2000" dirty="0">
                <a:latin typeface="Calibri" panose="020F0502020204030204" pitchFamily="34" charset="0"/>
                <a:ea typeface="Calibri" panose="020F0502020204030204" pitchFamily="34" charset="0"/>
                <a:cs typeface="Calibri" panose="020F0502020204030204" pitchFamily="34" charset="0"/>
              </a:rPr>
              <a:t> (Computer Science and Engineering)</a:t>
            </a:r>
          </a:p>
          <a:p>
            <a:pPr lvl="0" fontAlgn="base"/>
            <a:endParaRPr lang="en-IN" sz="2000" dirty="0">
              <a:latin typeface="Calibri" panose="020F0502020204030204" pitchFamily="34" charset="0"/>
              <a:ea typeface="Calibri" panose="020F0502020204030204" pitchFamily="34" charset="0"/>
              <a:cs typeface="Calibri" panose="020F0502020204030204" pitchFamily="34" charset="0"/>
            </a:endParaRPr>
          </a:p>
          <a:p>
            <a:pPr lvl="0" fontAlgn="base"/>
            <a:r>
              <a:rPr lang="en-IN" sz="2000" b="1" dirty="0">
                <a:latin typeface="Calibri" panose="020F0502020204030204" pitchFamily="34" charset="0"/>
                <a:ea typeface="Calibri" panose="020F0502020204030204" pitchFamily="34" charset="0"/>
                <a:cs typeface="Calibri" panose="020F0502020204030204" pitchFamily="34" charset="0"/>
              </a:rPr>
              <a:t>Want to learn Data Science because </a:t>
            </a:r>
            <a:r>
              <a:rPr lang="en-IN" sz="2000" dirty="0">
                <a:latin typeface="Calibri" panose="020F0502020204030204" pitchFamily="34" charset="0"/>
                <a:ea typeface="Calibri" panose="020F0502020204030204" pitchFamily="34" charset="0"/>
                <a:cs typeface="Calibri" panose="020F0502020204030204" pitchFamily="34" charset="0"/>
              </a:rPr>
              <a:t>it allows me to turn raw data into meaningful insights that can solve real-world problems. In today’s digital world, data is everywhere, and I’m interested in understanding patterns, trends, and making data-driven decisions rather than relying on assumptions.</a:t>
            </a:r>
          </a:p>
          <a:p>
            <a:pPr lvl="0" fontAlgn="base"/>
            <a:endParaRPr lang="en-IN" sz="2000" dirty="0">
              <a:latin typeface="Calibri" panose="020F0502020204030204" pitchFamily="34" charset="0"/>
              <a:ea typeface="Calibri" panose="020F0502020204030204" pitchFamily="34" charset="0"/>
              <a:cs typeface="Calibri" panose="020F0502020204030204" pitchFamily="34" charset="0"/>
            </a:endParaRPr>
          </a:p>
          <a:p>
            <a:pPr lvl="0" fontAlgn="base"/>
            <a:r>
              <a:rPr lang="en-IN" sz="2000" b="1" dirty="0">
                <a:latin typeface="Calibri" panose="020F0502020204030204" pitchFamily="34" charset="0"/>
                <a:ea typeface="Calibri" panose="020F0502020204030204" pitchFamily="34" charset="0"/>
                <a:cs typeface="Calibri" panose="020F0502020204030204" pitchFamily="34" charset="0"/>
              </a:rPr>
              <a:t>Experience </a:t>
            </a:r>
            <a:r>
              <a:rPr lang="en-IN" sz="2000" dirty="0">
                <a:latin typeface="Calibri" panose="020F0502020204030204" pitchFamily="34" charset="0"/>
                <a:ea typeface="Calibri" panose="020F0502020204030204" pitchFamily="34" charset="0"/>
                <a:cs typeface="Calibri" panose="020F0502020204030204" pitchFamily="34" charset="0"/>
              </a:rPr>
              <a:t>: No</a:t>
            </a:r>
          </a:p>
        </p:txBody>
      </p:sp>
      <p:sp>
        <p:nvSpPr>
          <p:cNvPr id="5" name="TextBox 4">
            <a:extLst>
              <a:ext uri="{FF2B5EF4-FFF2-40B4-BE49-F238E27FC236}">
                <a16:creationId xmlns:a16="http://schemas.microsoft.com/office/drawing/2014/main" id="{5793A912-8074-84B6-3227-F357A136EFAC}"/>
              </a:ext>
            </a:extLst>
          </p:cNvPr>
          <p:cNvSpPr txBox="1"/>
          <p:nvPr/>
        </p:nvSpPr>
        <p:spPr>
          <a:xfrm>
            <a:off x="2074605" y="4088963"/>
            <a:ext cx="2782529" cy="1493358"/>
          </a:xfrm>
          <a:prstGeom prst="rect">
            <a:avLst/>
          </a:prstGeom>
          <a:noFill/>
        </p:spPr>
        <p:txBody>
          <a:bodyPr wrap="square" rtlCol="0">
            <a:spAutoFit/>
          </a:bodyPr>
          <a:lstStyle/>
          <a:p>
            <a:pPr>
              <a:lnSpc>
                <a:spcPct val="150000"/>
              </a:lnSpc>
            </a:pPr>
            <a:r>
              <a:rPr lang="en-IN" sz="3200" b="1" dirty="0">
                <a:hlinkClick r:id="rId2"/>
              </a:rPr>
              <a:t>LinkedIn</a:t>
            </a:r>
          </a:p>
          <a:p>
            <a:pPr>
              <a:lnSpc>
                <a:spcPct val="150000"/>
              </a:lnSpc>
            </a:pPr>
            <a:r>
              <a:rPr lang="en-IN" sz="3200" b="1" dirty="0">
                <a:hlinkClick r:id="rId2"/>
              </a:rPr>
              <a:t> </a:t>
            </a:r>
            <a:r>
              <a:rPr lang="en-IN" sz="3200" b="1" dirty="0">
                <a:hlinkClick r:id="rId3"/>
              </a:rPr>
              <a:t>GitHub</a:t>
            </a:r>
            <a:endParaRPr lang="en-IN" sz="3200" b="1" dirty="0"/>
          </a:p>
        </p:txBody>
      </p:sp>
    </p:spTree>
    <p:extLst>
      <p:ext uri="{BB962C8B-B14F-4D97-AF65-F5344CB8AC3E}">
        <p14:creationId xmlns:p14="http://schemas.microsoft.com/office/powerpoint/2010/main" val="2642966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60717831-283F-8F79-55DF-37EA15B43C4C}"/>
              </a:ext>
            </a:extLst>
          </p:cNvPr>
          <p:cNvSpPr txBox="1"/>
          <p:nvPr/>
        </p:nvSpPr>
        <p:spPr>
          <a:xfrm>
            <a:off x="1858297" y="1518893"/>
            <a:ext cx="9085006" cy="3057568"/>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The objective of this project is to perform Exploratory Data Analysis (EDA) on a Credit Risk dataset to identify the key factors affecting loan status and understand customer credit </a:t>
            </a:r>
            <a:r>
              <a:rPr lang="en-US" sz="2000" dirty="0" err="1">
                <a:solidFill>
                  <a:srgbClr val="16213A"/>
                </a:solidFill>
                <a:latin typeface="Calibri" pitchFamily="34" charset="0"/>
                <a:ea typeface="Calibri" pitchFamily="34" charset="-122"/>
                <a:cs typeface="Calibri" pitchFamily="34" charset="-120"/>
              </a:rPr>
              <a:t>behaviour</a:t>
            </a:r>
            <a:r>
              <a:rPr lang="en-US" sz="2000" dirty="0">
                <a:solidFill>
                  <a:srgbClr val="16213A"/>
                </a:solidFill>
                <a:latin typeface="Calibri" pitchFamily="34" charset="0"/>
                <a:ea typeface="Calibri" pitchFamily="34" charset="-122"/>
                <a:cs typeface="Calibri" pitchFamily="34" charset="-120"/>
              </a:rPr>
              <a:t> through statistical analysis and visualizations.</a:t>
            </a:r>
            <a:endParaRPr lang="en-US" sz="2000" dirty="0"/>
          </a:p>
          <a:p>
            <a:pPr>
              <a:lnSpc>
                <a:spcPct val="115000"/>
              </a:lnSpc>
            </a:pPr>
            <a:endParaRPr lang="en-US" sz="2000" dirty="0"/>
          </a:p>
          <a:p>
            <a:pPr>
              <a:lnSpc>
                <a:spcPct val="115000"/>
              </a:lnSpc>
            </a:pPr>
            <a:r>
              <a:rPr lang="en-US" sz="2000" dirty="0">
                <a:solidFill>
                  <a:srgbClr val="16213A"/>
                </a:solidFill>
                <a:latin typeface="Calibri" pitchFamily="34" charset="0"/>
                <a:ea typeface="Calibri" pitchFamily="34" charset="-122"/>
                <a:cs typeface="Calibri" pitchFamily="34" charset="-120"/>
              </a:rPr>
              <a:t>This involves examining demographic attributes, income, employment history, and loan characteristics to uncover patterns that distinguish approved loans from those that are not approved.</a:t>
            </a:r>
            <a:endParaRPr lang="en-US" sz="2000" dirty="0"/>
          </a:p>
          <a:p>
            <a:pPr>
              <a:lnSpc>
                <a:spcPct val="150000"/>
              </a:lnSpc>
            </a:pPr>
            <a:endParaRPr lang="en-IN" sz="240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706E93D-FAC6-02AD-C1DC-F8094454BC7F}"/>
              </a:ext>
            </a:extLst>
          </p:cNvPr>
          <p:cNvSpPr txBox="1"/>
          <p:nvPr/>
        </p:nvSpPr>
        <p:spPr>
          <a:xfrm>
            <a:off x="0" y="57062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Problem Statement</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562BF312-0AAD-0428-3841-E2A599B735D4}"/>
              </a:ext>
            </a:extLst>
          </p:cNvPr>
          <p:cNvPicPr>
            <a:picLocks noChangeAspect="1"/>
          </p:cNvPicPr>
          <p:nvPr/>
        </p:nvPicPr>
        <p:blipFill>
          <a:blip r:embed="rId2"/>
          <a:stretch>
            <a:fillRect/>
          </a:stretch>
        </p:blipFill>
        <p:spPr>
          <a:xfrm>
            <a:off x="6877478" y="3047677"/>
            <a:ext cx="4272304" cy="4704735"/>
          </a:xfrm>
          <a:prstGeom prst="rect">
            <a:avLst/>
          </a:prstGeom>
        </p:spPr>
      </p:pic>
    </p:spTree>
    <p:extLst>
      <p:ext uri="{BB962C8B-B14F-4D97-AF65-F5344CB8AC3E}">
        <p14:creationId xmlns:p14="http://schemas.microsoft.com/office/powerpoint/2010/main" val="280382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769855-5A8A-84FD-6D0C-B2C33EB35BDA}"/>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Objectives &amp; Use Cases</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D78B8B37-54BB-A875-E375-BF5879FA225F}"/>
              </a:ext>
            </a:extLst>
          </p:cNvPr>
          <p:cNvSpPr txBox="1"/>
          <p:nvPr/>
        </p:nvSpPr>
        <p:spPr>
          <a:xfrm>
            <a:off x="1681316" y="997784"/>
            <a:ext cx="3883742" cy="2812950"/>
          </a:xfrm>
          <a:prstGeom prst="rect">
            <a:avLst/>
          </a:prstGeom>
          <a:noFill/>
        </p:spPr>
        <p:txBody>
          <a:bodyPr wrap="square" rtlCol="0">
            <a:spAutoFit/>
          </a:bodyPr>
          <a:lstStyle/>
          <a:p>
            <a:pPr>
              <a:lnSpc>
                <a:spcPct val="150000"/>
              </a:lnSpc>
            </a:pPr>
            <a:r>
              <a:rPr lang="en-IN" sz="2000" b="1" dirty="0"/>
              <a:t>Objectives</a:t>
            </a:r>
          </a:p>
          <a:p>
            <a:pPr marL="342900" indent="-342900">
              <a:lnSpc>
                <a:spcPct val="150000"/>
              </a:lnSpc>
              <a:buFont typeface="Arial" panose="020B0604020202020204" pitchFamily="34" charset="0"/>
              <a:buChar char="•"/>
            </a:pPr>
            <a:r>
              <a:rPr lang="en-IN" sz="2000" dirty="0" err="1"/>
              <a:t>Analyze</a:t>
            </a:r>
            <a:r>
              <a:rPr lang="en-IN" sz="2000" dirty="0"/>
              <a:t> borrower profiles</a:t>
            </a:r>
          </a:p>
          <a:p>
            <a:pPr marL="342900" indent="-342900">
              <a:lnSpc>
                <a:spcPct val="150000"/>
              </a:lnSpc>
              <a:buFont typeface="Arial" panose="020B0604020202020204" pitchFamily="34" charset="0"/>
              <a:buChar char="•"/>
            </a:pPr>
            <a:r>
              <a:rPr lang="en-IN" sz="2000" dirty="0"/>
              <a:t>Identify key risk factors</a:t>
            </a:r>
          </a:p>
          <a:p>
            <a:pPr marL="342900" indent="-342900">
              <a:lnSpc>
                <a:spcPct val="150000"/>
              </a:lnSpc>
              <a:buFont typeface="Arial" panose="020B0604020202020204" pitchFamily="34" charset="0"/>
              <a:buChar char="•"/>
            </a:pPr>
            <a:r>
              <a:rPr lang="en-IN" sz="2000" dirty="0"/>
              <a:t>Study loan and income trends</a:t>
            </a:r>
          </a:p>
          <a:p>
            <a:pPr marL="342900" indent="-342900">
              <a:lnSpc>
                <a:spcPct val="150000"/>
              </a:lnSpc>
              <a:buFont typeface="Arial" panose="020B0604020202020204" pitchFamily="34" charset="0"/>
              <a:buChar char="•"/>
            </a:pPr>
            <a:r>
              <a:rPr lang="en-IN" sz="2000" dirty="0"/>
              <a:t>Understand default patterns</a:t>
            </a:r>
          </a:p>
          <a:p>
            <a:pPr marL="342900" indent="-342900">
              <a:lnSpc>
                <a:spcPct val="150000"/>
              </a:lnSpc>
              <a:buFont typeface="Arial" panose="020B0604020202020204" pitchFamily="34" charset="0"/>
              <a:buChar char="•"/>
            </a:pPr>
            <a:r>
              <a:rPr lang="en-IN" sz="2000" dirty="0"/>
              <a:t>Support credit risk assessment</a:t>
            </a:r>
            <a:endParaRPr lang="en-IN"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6561C65-7879-CA96-46C9-922DE1C35666}"/>
              </a:ext>
            </a:extLst>
          </p:cNvPr>
          <p:cNvSpPr txBox="1"/>
          <p:nvPr/>
        </p:nvSpPr>
        <p:spPr>
          <a:xfrm>
            <a:off x="5855109" y="3598416"/>
            <a:ext cx="3883742" cy="2812950"/>
          </a:xfrm>
          <a:prstGeom prst="rect">
            <a:avLst/>
          </a:prstGeom>
          <a:noFill/>
        </p:spPr>
        <p:txBody>
          <a:bodyPr wrap="square" rtlCol="0">
            <a:spAutoFit/>
          </a:bodyPr>
          <a:lstStyle/>
          <a:p>
            <a:pPr>
              <a:lnSpc>
                <a:spcPct val="150000"/>
              </a:lnSpc>
            </a:pPr>
            <a:r>
              <a:rPr lang="en-IN" sz="2000" b="1" dirty="0"/>
              <a:t>Use Cases</a:t>
            </a:r>
          </a:p>
          <a:p>
            <a:pPr marL="342900" indent="-342900">
              <a:lnSpc>
                <a:spcPct val="150000"/>
              </a:lnSpc>
              <a:buFont typeface="Arial" panose="020B0604020202020204" pitchFamily="34" charset="0"/>
              <a:buChar char="•"/>
            </a:pPr>
            <a:r>
              <a:rPr lang="en-IN" sz="2000" dirty="0"/>
              <a:t>Loan approval decisions</a:t>
            </a:r>
          </a:p>
          <a:p>
            <a:pPr marL="342900" indent="-342900">
              <a:lnSpc>
                <a:spcPct val="150000"/>
              </a:lnSpc>
              <a:buFont typeface="Arial" panose="020B0604020202020204" pitchFamily="34" charset="0"/>
              <a:buChar char="•"/>
            </a:pPr>
            <a:r>
              <a:rPr lang="en-IN" sz="2000" dirty="0"/>
              <a:t>Risk assessment of borrowers</a:t>
            </a:r>
          </a:p>
          <a:p>
            <a:pPr marL="342900" indent="-342900">
              <a:lnSpc>
                <a:spcPct val="150000"/>
              </a:lnSpc>
              <a:buFont typeface="Arial" panose="020B0604020202020204" pitchFamily="34" charset="0"/>
              <a:buChar char="•"/>
            </a:pPr>
            <a:r>
              <a:rPr lang="en-IN" sz="2000" dirty="0"/>
              <a:t>Default risk identification</a:t>
            </a:r>
          </a:p>
          <a:p>
            <a:pPr marL="342900" indent="-342900">
              <a:lnSpc>
                <a:spcPct val="150000"/>
              </a:lnSpc>
              <a:buFont typeface="Arial" panose="020B0604020202020204" pitchFamily="34" charset="0"/>
              <a:buChar char="•"/>
            </a:pPr>
            <a:r>
              <a:rPr lang="en-IN" sz="2000" dirty="0"/>
              <a:t>Financial loss reduction</a:t>
            </a:r>
          </a:p>
          <a:p>
            <a:pPr marL="342900" indent="-342900">
              <a:lnSpc>
                <a:spcPct val="150000"/>
              </a:lnSpc>
              <a:buFont typeface="Arial" panose="020B0604020202020204" pitchFamily="34" charset="0"/>
              <a:buChar char="•"/>
            </a:pPr>
            <a:r>
              <a:rPr lang="en-IN" sz="2000" dirty="0"/>
              <a:t>Better lending strategies</a:t>
            </a:r>
            <a:endParaRPr lang="en-IN" sz="20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E043F6B5-3AF3-5EA9-98D8-5CAD41AA4ACE}"/>
              </a:ext>
            </a:extLst>
          </p:cNvPr>
          <p:cNvPicPr>
            <a:picLocks noChangeAspect="1"/>
          </p:cNvPicPr>
          <p:nvPr/>
        </p:nvPicPr>
        <p:blipFill>
          <a:blip r:embed="rId2"/>
          <a:stretch>
            <a:fillRect/>
          </a:stretch>
        </p:blipFill>
        <p:spPr>
          <a:xfrm>
            <a:off x="8042823" y="-120174"/>
            <a:ext cx="3741150" cy="5560142"/>
          </a:xfrm>
          <a:prstGeom prst="rect">
            <a:avLst/>
          </a:prstGeom>
        </p:spPr>
      </p:pic>
    </p:spTree>
    <p:extLst>
      <p:ext uri="{BB962C8B-B14F-4D97-AF65-F5344CB8AC3E}">
        <p14:creationId xmlns:p14="http://schemas.microsoft.com/office/powerpoint/2010/main" val="7045418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75D092-5864-A34E-8F08-83A27EDEFE19}"/>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Why this Project ?</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D605A931-327A-9477-08B3-64E1620D4054}"/>
              </a:ext>
            </a:extLst>
          </p:cNvPr>
          <p:cNvSpPr txBox="1"/>
          <p:nvPr/>
        </p:nvSpPr>
        <p:spPr>
          <a:xfrm>
            <a:off x="1858297" y="1185310"/>
            <a:ext cx="9085006" cy="2016193"/>
          </a:xfrm>
          <a:prstGeom prst="rect">
            <a:avLst/>
          </a:prstGeom>
          <a:noFill/>
        </p:spPr>
        <p:txBody>
          <a:bodyPr wrap="square" rtlCol="0">
            <a:spAutoFit/>
          </a:bodyPr>
          <a:lstStyle/>
          <a:p>
            <a:pPr>
              <a:lnSpc>
                <a:spcPct val="115000"/>
              </a:lnSpc>
            </a:pPr>
            <a:r>
              <a:rPr lang="en-US" sz="2200" b="1" dirty="0">
                <a:latin typeface="Calibri" pitchFamily="34" charset="0"/>
                <a:ea typeface="Calibri" pitchFamily="34" charset="-122"/>
                <a:cs typeface="Calibri" pitchFamily="34" charset="-120"/>
              </a:rPr>
              <a:t>Reason to choosing this dataset:</a:t>
            </a:r>
          </a:p>
          <a:p>
            <a:pPr>
              <a:lnSpc>
                <a:spcPct val="115000"/>
              </a:lnSpc>
            </a:pPr>
            <a:r>
              <a:rPr lang="en-US" sz="2200" dirty="0">
                <a:latin typeface="Calibri" pitchFamily="34" charset="0"/>
                <a:ea typeface="Calibri" pitchFamily="34" charset="-122"/>
                <a:cs typeface="Calibri" pitchFamily="34" charset="-120"/>
              </a:rPr>
              <a:t>Credit risk is one of the most critical challenges faced by banks and lending institutions. </a:t>
            </a:r>
            <a:r>
              <a:rPr lang="en-US" sz="2200" dirty="0" err="1">
                <a:latin typeface="Calibri" pitchFamily="34" charset="0"/>
                <a:ea typeface="Calibri" pitchFamily="34" charset="-122"/>
                <a:cs typeface="Calibri" pitchFamily="34" charset="-120"/>
              </a:rPr>
              <a:t>Analysing</a:t>
            </a:r>
            <a:r>
              <a:rPr lang="en-US" sz="2200" dirty="0">
                <a:latin typeface="Calibri" pitchFamily="34" charset="0"/>
                <a:ea typeface="Calibri" pitchFamily="34" charset="-122"/>
                <a:cs typeface="Calibri" pitchFamily="34" charset="-120"/>
              </a:rPr>
              <a:t> this dataset offers a realistic, finance-domain problem that combines numerical, categorical, and </a:t>
            </a:r>
            <a:r>
              <a:rPr lang="en-US" sz="2200" dirty="0" err="1">
                <a:latin typeface="Calibri" pitchFamily="34" charset="0"/>
                <a:ea typeface="Calibri" pitchFamily="34" charset="-122"/>
                <a:cs typeface="Calibri" pitchFamily="34" charset="-120"/>
              </a:rPr>
              <a:t>behavioural</a:t>
            </a:r>
            <a:r>
              <a:rPr lang="en-US" sz="2200" dirty="0">
                <a:latin typeface="Calibri" pitchFamily="34" charset="0"/>
                <a:ea typeface="Calibri" pitchFamily="34" charset="-122"/>
                <a:cs typeface="Calibri" pitchFamily="34" charset="-120"/>
              </a:rPr>
              <a:t> features — ideal for practicing end-to-end EDA techniques.</a:t>
            </a:r>
            <a:endParaRPr lang="en-US" sz="2200" dirty="0"/>
          </a:p>
        </p:txBody>
      </p:sp>
      <p:sp>
        <p:nvSpPr>
          <p:cNvPr id="4" name="TextBox 3">
            <a:extLst>
              <a:ext uri="{FF2B5EF4-FFF2-40B4-BE49-F238E27FC236}">
                <a16:creationId xmlns:a16="http://schemas.microsoft.com/office/drawing/2014/main" id="{C79BB824-5053-E288-2AD5-1699D10D5FB0}"/>
              </a:ext>
            </a:extLst>
          </p:cNvPr>
          <p:cNvSpPr txBox="1"/>
          <p:nvPr/>
        </p:nvSpPr>
        <p:spPr>
          <a:xfrm>
            <a:off x="1951704" y="3587672"/>
            <a:ext cx="9085006" cy="2405530"/>
          </a:xfrm>
          <a:prstGeom prst="rect">
            <a:avLst/>
          </a:prstGeom>
          <a:noFill/>
        </p:spPr>
        <p:txBody>
          <a:bodyPr wrap="square" rtlCol="0">
            <a:spAutoFit/>
          </a:bodyPr>
          <a:lstStyle/>
          <a:p>
            <a:pPr>
              <a:lnSpc>
                <a:spcPct val="115000"/>
              </a:lnSpc>
            </a:pPr>
            <a:r>
              <a:rPr lang="en-US" sz="2200" b="1" dirty="0">
                <a:latin typeface="Calibri" pitchFamily="34" charset="0"/>
                <a:ea typeface="Calibri" pitchFamily="34" charset="-122"/>
                <a:cs typeface="Calibri" pitchFamily="34" charset="-120"/>
              </a:rPr>
              <a:t>Relevance to Domain &amp; Interest:</a:t>
            </a:r>
          </a:p>
          <a:p>
            <a:pPr>
              <a:lnSpc>
                <a:spcPct val="115000"/>
              </a:lnSpc>
            </a:pPr>
            <a:r>
              <a:rPr lang="en-US" sz="2200" dirty="0">
                <a:solidFill>
                  <a:srgbClr val="16213A"/>
                </a:solidFill>
                <a:latin typeface="Calibri" pitchFamily="34" charset="0"/>
                <a:ea typeface="Calibri" pitchFamily="34" charset="-122"/>
                <a:cs typeface="Calibri" pitchFamily="34" charset="-120"/>
              </a:rPr>
              <a:t>As a Computer Science student, building strong data analysis skills is essential for roles in data science and analytics. Credit risk modelling connects technical skills (Python, statistics, visualization) with real-world business impact — helping lenders reduce default risk.</a:t>
            </a:r>
            <a:endParaRPr lang="en-US" sz="2200" dirty="0"/>
          </a:p>
          <a:p>
            <a:pPr>
              <a:lnSpc>
                <a:spcPct val="115000"/>
              </a:lnSpc>
            </a:pPr>
            <a:endParaRPr lang="en-US" sz="2200" dirty="0"/>
          </a:p>
        </p:txBody>
      </p:sp>
    </p:spTree>
    <p:extLst>
      <p:ext uri="{BB962C8B-B14F-4D97-AF65-F5344CB8AC3E}">
        <p14:creationId xmlns:p14="http://schemas.microsoft.com/office/powerpoint/2010/main" val="976395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74D5B2-B164-F18E-86A8-BC95C5F1A5AE}"/>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About the Dataset</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70D6F49E-C02F-FCF0-8859-3AE94A5AB789}"/>
              </a:ext>
            </a:extLst>
          </p:cNvPr>
          <p:cNvSpPr txBox="1"/>
          <p:nvPr/>
        </p:nvSpPr>
        <p:spPr>
          <a:xfrm>
            <a:off x="1929932" y="1185310"/>
            <a:ext cx="9003538" cy="2016193"/>
          </a:xfrm>
          <a:prstGeom prst="rect">
            <a:avLst/>
          </a:prstGeom>
          <a:noFill/>
        </p:spPr>
        <p:txBody>
          <a:bodyPr wrap="square" rtlCol="0">
            <a:spAutoFit/>
          </a:bodyPr>
          <a:lstStyle/>
          <a:p>
            <a:pPr>
              <a:lnSpc>
                <a:spcPct val="115000"/>
              </a:lnSpc>
            </a:pPr>
            <a:r>
              <a:rPr lang="en-US" sz="2200" dirty="0">
                <a:solidFill>
                  <a:srgbClr val="16213A"/>
                </a:solidFill>
                <a:latin typeface="Calibri" pitchFamily="34" charset="0"/>
                <a:ea typeface="Calibri" pitchFamily="34" charset="-122"/>
                <a:cs typeface="Calibri" pitchFamily="34" charset="-120"/>
              </a:rPr>
              <a:t>The Credit Risk dataset contains demographic, financial, and loan-related information for individual borrowers. It captures attributes such as age, income, employment length, home ownership, loan amount, interest rate, loan intent, loan grade, and credit history length, along with the final loan status outcome.</a:t>
            </a:r>
            <a:endParaRPr lang="en-US" sz="2200" dirty="0"/>
          </a:p>
        </p:txBody>
      </p:sp>
      <p:sp>
        <p:nvSpPr>
          <p:cNvPr id="6" name="TextBox 5">
            <a:extLst>
              <a:ext uri="{FF2B5EF4-FFF2-40B4-BE49-F238E27FC236}">
                <a16:creationId xmlns:a16="http://schemas.microsoft.com/office/drawing/2014/main" id="{31438D96-E944-DA5E-271C-95A49637C197}"/>
              </a:ext>
            </a:extLst>
          </p:cNvPr>
          <p:cNvSpPr txBox="1"/>
          <p:nvPr/>
        </p:nvSpPr>
        <p:spPr>
          <a:xfrm>
            <a:off x="1660949" y="3656498"/>
            <a:ext cx="4770752" cy="2016193"/>
          </a:xfrm>
          <a:prstGeom prst="rect">
            <a:avLst/>
          </a:prstGeom>
          <a:noFill/>
        </p:spPr>
        <p:txBody>
          <a:bodyPr wrap="square" rtlCol="0">
            <a:spAutoFit/>
          </a:bodyPr>
          <a:lstStyle/>
          <a:p>
            <a:pPr>
              <a:lnSpc>
                <a:spcPct val="115000"/>
              </a:lnSpc>
            </a:pPr>
            <a:r>
              <a:rPr lang="en-US" sz="2200" b="1" dirty="0">
                <a:solidFill>
                  <a:srgbClr val="16213A"/>
                </a:solidFill>
                <a:latin typeface="Calibri" pitchFamily="34" charset="0"/>
                <a:ea typeface="Calibri" pitchFamily="34" charset="-122"/>
                <a:cs typeface="Calibri" pitchFamily="34" charset="-120"/>
              </a:rPr>
              <a:t>Source: </a:t>
            </a:r>
            <a:r>
              <a:rPr lang="en-US" sz="2200" dirty="0">
                <a:solidFill>
                  <a:srgbClr val="16213A"/>
                </a:solidFill>
                <a:latin typeface="Calibri" pitchFamily="34" charset="0"/>
                <a:ea typeface="Calibri" pitchFamily="34" charset="-122"/>
                <a:cs typeface="Calibri" pitchFamily="34" charset="-120"/>
              </a:rPr>
              <a:t>Publicly available Credit Risk dataset (Kaggle-style structured CSV format), commonly used for credit-risk and loan-default analysis.</a:t>
            </a:r>
            <a:endParaRPr lang="en-US" sz="2200" dirty="0"/>
          </a:p>
          <a:p>
            <a:pPr>
              <a:lnSpc>
                <a:spcPct val="115000"/>
              </a:lnSpc>
            </a:pPr>
            <a:endParaRPr lang="en-US" sz="2200" dirty="0"/>
          </a:p>
        </p:txBody>
      </p:sp>
      <p:sp>
        <p:nvSpPr>
          <p:cNvPr id="7" name="TextBox 6">
            <a:extLst>
              <a:ext uri="{FF2B5EF4-FFF2-40B4-BE49-F238E27FC236}">
                <a16:creationId xmlns:a16="http://schemas.microsoft.com/office/drawing/2014/main" id="{0F515BC2-495F-7514-2BF1-00D642F2DD2F}"/>
              </a:ext>
            </a:extLst>
          </p:cNvPr>
          <p:cNvSpPr txBox="1"/>
          <p:nvPr/>
        </p:nvSpPr>
        <p:spPr>
          <a:xfrm>
            <a:off x="7103104" y="3656497"/>
            <a:ext cx="4770752" cy="1626856"/>
          </a:xfrm>
          <a:prstGeom prst="rect">
            <a:avLst/>
          </a:prstGeom>
          <a:noFill/>
        </p:spPr>
        <p:txBody>
          <a:bodyPr wrap="square" rtlCol="0">
            <a:spAutoFit/>
          </a:bodyPr>
          <a:lstStyle/>
          <a:p>
            <a:pPr>
              <a:lnSpc>
                <a:spcPct val="115000"/>
              </a:lnSpc>
            </a:pPr>
            <a:r>
              <a:rPr lang="en-US" sz="2200" b="1" dirty="0">
                <a:solidFill>
                  <a:srgbClr val="16213A"/>
                </a:solidFill>
                <a:latin typeface="Calibri" pitchFamily="34" charset="0"/>
                <a:ea typeface="Calibri" pitchFamily="34" charset="-122"/>
                <a:cs typeface="Calibri" pitchFamily="34" charset="-120"/>
              </a:rPr>
              <a:t>Scale: </a:t>
            </a:r>
          </a:p>
          <a:p>
            <a:pPr>
              <a:lnSpc>
                <a:spcPct val="115000"/>
              </a:lnSpc>
            </a:pPr>
            <a:r>
              <a:rPr lang="en-US" sz="2200" dirty="0">
                <a:solidFill>
                  <a:srgbClr val="16213A"/>
                </a:solidFill>
                <a:latin typeface="Calibri" pitchFamily="34" charset="0"/>
                <a:ea typeface="Calibri" pitchFamily="34" charset="-122"/>
                <a:cs typeface="Calibri" pitchFamily="34" charset="-120"/>
              </a:rPr>
              <a:t>32,581 records</a:t>
            </a:r>
            <a:endParaRPr lang="en-US" sz="2200" dirty="0"/>
          </a:p>
          <a:p>
            <a:pPr>
              <a:lnSpc>
                <a:spcPct val="115000"/>
              </a:lnSpc>
            </a:pPr>
            <a:r>
              <a:rPr lang="en-US" sz="2200" dirty="0">
                <a:solidFill>
                  <a:srgbClr val="16213A"/>
                </a:solidFill>
                <a:latin typeface="Calibri" pitchFamily="34" charset="0"/>
                <a:ea typeface="Calibri" pitchFamily="34" charset="-122"/>
                <a:cs typeface="Calibri" pitchFamily="34" charset="-120"/>
              </a:rPr>
              <a:t>12 columns</a:t>
            </a:r>
            <a:endParaRPr lang="en-US" sz="2200" dirty="0"/>
          </a:p>
          <a:p>
            <a:pPr>
              <a:lnSpc>
                <a:spcPct val="115000"/>
              </a:lnSpc>
            </a:pPr>
            <a:r>
              <a:rPr lang="en-US" sz="2200" dirty="0">
                <a:solidFill>
                  <a:srgbClr val="16213A"/>
                </a:solidFill>
                <a:latin typeface="Calibri" pitchFamily="34" charset="0"/>
                <a:ea typeface="Calibri" pitchFamily="34" charset="-122"/>
                <a:cs typeface="Calibri" pitchFamily="34" charset="-120"/>
              </a:rPr>
              <a:t>Mix of numerical &amp; categorical features</a:t>
            </a:r>
            <a:endParaRPr lang="en-US" sz="2200" dirty="0"/>
          </a:p>
        </p:txBody>
      </p:sp>
    </p:spTree>
    <p:extLst>
      <p:ext uri="{BB962C8B-B14F-4D97-AF65-F5344CB8AC3E}">
        <p14:creationId xmlns:p14="http://schemas.microsoft.com/office/powerpoint/2010/main" val="7539250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0">
            <a:extLst>
              <a:ext uri="{FF2B5EF4-FFF2-40B4-BE49-F238E27FC236}">
                <a16:creationId xmlns:a16="http://schemas.microsoft.com/office/drawing/2014/main" id="{39D45444-7112-28E6-A611-B2CDFF6020E6}"/>
              </a:ext>
            </a:extLst>
          </p:cNvPr>
          <p:cNvGraphicFramePr>
            <a:graphicFrameLocks noGrp="1"/>
          </p:cNvGraphicFramePr>
          <p:nvPr>
            <p:extLst>
              <p:ext uri="{D42A27DB-BD31-4B8C-83A1-F6EECF244321}">
                <p14:modId xmlns:p14="http://schemas.microsoft.com/office/powerpoint/2010/main" val="1566060013"/>
              </p:ext>
            </p:extLst>
          </p:nvPr>
        </p:nvGraphicFramePr>
        <p:xfrm>
          <a:off x="1907458" y="1185310"/>
          <a:ext cx="9675925" cy="4851700"/>
        </p:xfrm>
        <a:graphic>
          <a:graphicData uri="http://schemas.openxmlformats.org/drawingml/2006/table">
            <a:tbl>
              <a:tblPr/>
              <a:tblGrid>
                <a:gridCol w="3598485">
                  <a:extLst>
                    <a:ext uri="{9D8B030D-6E8A-4147-A177-3AD203B41FA5}">
                      <a16:colId xmlns:a16="http://schemas.microsoft.com/office/drawing/2014/main" val="20000"/>
                    </a:ext>
                  </a:extLst>
                </a:gridCol>
                <a:gridCol w="6077440">
                  <a:extLst>
                    <a:ext uri="{9D8B030D-6E8A-4147-A177-3AD203B41FA5}">
                      <a16:colId xmlns:a16="http://schemas.microsoft.com/office/drawing/2014/main" val="20001"/>
                    </a:ext>
                  </a:extLst>
                </a:gridCol>
              </a:tblGrid>
              <a:tr h="48517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Column</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01F3C"/>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Description</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01F3C"/>
                    </a:solidFill>
                  </a:tcPr>
                </a:tc>
                <a:extLst>
                  <a:ext uri="{0D108BD9-81ED-4DB2-BD59-A6C34878D82A}">
                    <a16:rowId xmlns:a16="http://schemas.microsoft.com/office/drawing/2014/main" val="10000"/>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person_age / person_income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Borrower's age and annual income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person_home_ownership</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Housing status: RENT, OWN, MORTGAGE, OTHER</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person_emp_length</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Years of employment</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loan_intent</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Purpose of the loan (education, medical, etc.)</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loan_grade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Credit grade assigned (A–G)</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loan_amnt / loan_int_rate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 amount requested and interest rate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loan_percent_income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Loan amount as % of income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cb_person_default_on_file</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Prior default on record (Yes/No)</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r h="485170">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cb_person_cred_hist_length</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None/>
                      </a:pPr>
                      <a:r>
                        <a:rPr lang="en-US" sz="1250" dirty="0">
                          <a:solidFill>
                            <a:srgbClr val="16213A"/>
                          </a:solidFill>
                          <a:latin typeface="Calibri" pitchFamily="34" charset="0"/>
                          <a:ea typeface="Calibri" pitchFamily="34" charset="-122"/>
                          <a:cs typeface="Calibri" pitchFamily="34" charset="-120"/>
                        </a:rPr>
                        <a:t>Length of credit history (years)</a:t>
                      </a:r>
                      <a:endParaRPr lang="en-US" sz="1250" dirty="0">
                        <a:latin typeface="Calibri" charset="0"/>
                        <a:ea typeface="Calibri" charset="0"/>
                        <a:cs typeface="Calibri"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3" name="TextBox 2">
            <a:extLst>
              <a:ext uri="{FF2B5EF4-FFF2-40B4-BE49-F238E27FC236}">
                <a16:creationId xmlns:a16="http://schemas.microsoft.com/office/drawing/2014/main" id="{0D6551DD-2382-76F8-437E-3665390C1D24}"/>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Column Overview</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87278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D921FA7-5C9E-4EA2-CE2E-34D9A2748981}"/>
              </a:ext>
            </a:extLst>
          </p:cNvPr>
          <p:cNvPicPr>
            <a:picLocks noChangeAspect="1"/>
          </p:cNvPicPr>
          <p:nvPr/>
        </p:nvPicPr>
        <p:blipFill>
          <a:blip r:embed="rId2"/>
          <a:stretch>
            <a:fillRect/>
          </a:stretch>
        </p:blipFill>
        <p:spPr>
          <a:xfrm>
            <a:off x="2408288" y="524796"/>
            <a:ext cx="8712610" cy="5808407"/>
          </a:xfrm>
          <a:prstGeom prst="rect">
            <a:avLst/>
          </a:prstGeom>
        </p:spPr>
      </p:pic>
    </p:spTree>
    <p:extLst>
      <p:ext uri="{BB962C8B-B14F-4D97-AF65-F5344CB8AC3E}">
        <p14:creationId xmlns:p14="http://schemas.microsoft.com/office/powerpoint/2010/main" val="464140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claude/nb_images/cell_13.png">
            <a:extLst>
              <a:ext uri="{FF2B5EF4-FFF2-40B4-BE49-F238E27FC236}">
                <a16:creationId xmlns:a16="http://schemas.microsoft.com/office/drawing/2014/main" id="{2778018D-1F44-0AEA-2F86-2E1C8F1B123F}"/>
              </a:ext>
            </a:extLst>
          </p:cNvPr>
          <p:cNvPicPr>
            <a:picLocks noChangeAspect="1"/>
          </p:cNvPicPr>
          <p:nvPr/>
        </p:nvPicPr>
        <p:blipFill>
          <a:blip r:embed="rId2"/>
          <a:stretch>
            <a:fillRect/>
          </a:stretch>
        </p:blipFill>
        <p:spPr>
          <a:xfrm>
            <a:off x="967856" y="1283633"/>
            <a:ext cx="4174413" cy="4724892"/>
          </a:xfrm>
          <a:prstGeom prst="rect">
            <a:avLst/>
          </a:prstGeom>
        </p:spPr>
      </p:pic>
      <p:sp>
        <p:nvSpPr>
          <p:cNvPr id="3" name="TextBox 2">
            <a:extLst>
              <a:ext uri="{FF2B5EF4-FFF2-40B4-BE49-F238E27FC236}">
                <a16:creationId xmlns:a16="http://schemas.microsoft.com/office/drawing/2014/main" id="{511D77B1-C4CB-134B-C946-E902AC227434}"/>
              </a:ext>
            </a:extLst>
          </p:cNvPr>
          <p:cNvSpPr txBox="1"/>
          <p:nvPr/>
        </p:nvSpPr>
        <p:spPr>
          <a:xfrm>
            <a:off x="5545394" y="1283633"/>
            <a:ext cx="6646606" cy="4672818"/>
          </a:xfrm>
          <a:prstGeom prst="rect">
            <a:avLst/>
          </a:prstGeom>
          <a:noFill/>
        </p:spPr>
        <p:txBody>
          <a:bodyPr wrap="square" rtlCol="0">
            <a:spAutoFit/>
          </a:bodyPr>
          <a:lstStyle/>
          <a:p>
            <a:pPr>
              <a:lnSpc>
                <a:spcPct val="115000"/>
              </a:lnSpc>
            </a:pPr>
            <a:r>
              <a:rPr lang="en-US" sz="2400" dirty="0">
                <a:solidFill>
                  <a:srgbClr val="16213A"/>
                </a:solidFill>
                <a:latin typeface="Calibri" pitchFamily="34" charset="0"/>
                <a:ea typeface="Calibri" pitchFamily="34" charset="-122"/>
                <a:cs typeface="Calibri" pitchFamily="34" charset="-120"/>
              </a:rPr>
              <a:t>Missing value heatmap shows gaps in two columns:</a:t>
            </a:r>
            <a:endParaRPr lang="en-US" sz="2400" dirty="0"/>
          </a:p>
          <a:p>
            <a:pPr>
              <a:lnSpc>
                <a:spcPct val="115000"/>
              </a:lnSpc>
            </a:pPr>
            <a:r>
              <a:rPr lang="en-US" sz="2400" dirty="0">
                <a:solidFill>
                  <a:srgbClr val="16213A"/>
                </a:solidFill>
                <a:latin typeface="Calibri" pitchFamily="34" charset="0"/>
                <a:ea typeface="Calibri" pitchFamily="34" charset="-122"/>
                <a:cs typeface="Calibri" pitchFamily="34" charset="-120"/>
              </a:rPr>
              <a:t>• </a:t>
            </a:r>
            <a:r>
              <a:rPr lang="en-US" sz="2400" dirty="0" err="1">
                <a:solidFill>
                  <a:srgbClr val="16213A"/>
                </a:solidFill>
                <a:latin typeface="Calibri" pitchFamily="34" charset="0"/>
                <a:ea typeface="Calibri" pitchFamily="34" charset="-122"/>
                <a:cs typeface="Calibri" pitchFamily="34" charset="-120"/>
              </a:rPr>
              <a:t>person_emp_length</a:t>
            </a:r>
            <a:r>
              <a:rPr lang="en-US" sz="2400" dirty="0">
                <a:solidFill>
                  <a:srgbClr val="16213A"/>
                </a:solidFill>
                <a:latin typeface="Calibri" pitchFamily="34" charset="0"/>
                <a:ea typeface="Calibri" pitchFamily="34" charset="-122"/>
                <a:cs typeface="Calibri" pitchFamily="34" charset="-120"/>
              </a:rPr>
              <a:t> — 895 missing values</a:t>
            </a:r>
            <a:endParaRPr lang="en-US" sz="2400" dirty="0"/>
          </a:p>
          <a:p>
            <a:pPr>
              <a:lnSpc>
                <a:spcPct val="115000"/>
              </a:lnSpc>
            </a:pPr>
            <a:r>
              <a:rPr lang="en-US" sz="2400" dirty="0">
                <a:solidFill>
                  <a:srgbClr val="16213A"/>
                </a:solidFill>
                <a:latin typeface="Calibri" pitchFamily="34" charset="0"/>
                <a:ea typeface="Calibri" pitchFamily="34" charset="-122"/>
                <a:cs typeface="Calibri" pitchFamily="34" charset="-120"/>
              </a:rPr>
              <a:t>• </a:t>
            </a:r>
            <a:r>
              <a:rPr lang="en-US" sz="2400" dirty="0" err="1">
                <a:solidFill>
                  <a:srgbClr val="16213A"/>
                </a:solidFill>
                <a:latin typeface="Calibri" pitchFamily="34" charset="0"/>
                <a:ea typeface="Calibri" pitchFamily="34" charset="-122"/>
                <a:cs typeface="Calibri" pitchFamily="34" charset="-120"/>
              </a:rPr>
              <a:t>loan_int_rate</a:t>
            </a:r>
            <a:r>
              <a:rPr lang="en-US" sz="2400" dirty="0">
                <a:solidFill>
                  <a:srgbClr val="16213A"/>
                </a:solidFill>
                <a:latin typeface="Calibri" pitchFamily="34" charset="0"/>
                <a:ea typeface="Calibri" pitchFamily="34" charset="-122"/>
                <a:cs typeface="Calibri" pitchFamily="34" charset="-120"/>
              </a:rPr>
              <a:t> — 3,116 missing values</a:t>
            </a:r>
            <a:endParaRPr lang="en-US" sz="2400" dirty="0"/>
          </a:p>
          <a:p>
            <a:pPr>
              <a:lnSpc>
                <a:spcPct val="115000"/>
              </a:lnSpc>
            </a:pPr>
            <a:r>
              <a:rPr lang="en-US" sz="2400" dirty="0">
                <a:solidFill>
                  <a:srgbClr val="16213A"/>
                </a:solidFill>
                <a:latin typeface="Calibri" pitchFamily="34" charset="0"/>
                <a:ea typeface="Calibri" pitchFamily="34" charset="-122"/>
                <a:cs typeface="Calibri" pitchFamily="34" charset="-120"/>
              </a:rPr>
              <a:t>All other columns are complete.</a:t>
            </a:r>
            <a:endParaRPr lang="en-US" sz="2400" dirty="0"/>
          </a:p>
          <a:p>
            <a:pPr>
              <a:lnSpc>
                <a:spcPct val="115000"/>
              </a:lnSpc>
            </a:pPr>
            <a:endParaRPr lang="en-US" sz="2400" dirty="0"/>
          </a:p>
          <a:p>
            <a:pPr>
              <a:lnSpc>
                <a:spcPct val="115000"/>
              </a:lnSpc>
            </a:pPr>
            <a:r>
              <a:rPr lang="en-US" sz="2400" dirty="0">
                <a:solidFill>
                  <a:srgbClr val="16213A"/>
                </a:solidFill>
                <a:latin typeface="Calibri" pitchFamily="34" charset="0"/>
                <a:ea typeface="Calibri" pitchFamily="34" charset="-122"/>
                <a:cs typeface="Calibri" pitchFamily="34" charset="-120"/>
              </a:rPr>
              <a:t>Both columns were imputed using the median, since the underlying distributions contain outliers and the median is more robust than the mean to skew. This kept the dataset clean without distorting its distribution.</a:t>
            </a:r>
            <a:endParaRPr lang="en-US" sz="2400" dirty="0"/>
          </a:p>
          <a:p>
            <a:pPr>
              <a:lnSpc>
                <a:spcPct val="115000"/>
              </a:lnSpc>
            </a:pPr>
            <a:endParaRPr lang="en-US" sz="2000" dirty="0"/>
          </a:p>
        </p:txBody>
      </p:sp>
      <p:sp>
        <p:nvSpPr>
          <p:cNvPr id="4" name="TextBox 3">
            <a:extLst>
              <a:ext uri="{FF2B5EF4-FFF2-40B4-BE49-F238E27FC236}">
                <a16:creationId xmlns:a16="http://schemas.microsoft.com/office/drawing/2014/main" id="{CEBDFE53-C8A5-7FD0-59B7-6F9DBBC258C1}"/>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Missing Value Treatment</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60812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ABA90B-1B15-27B9-9F52-781A1D2439B7}"/>
              </a:ext>
            </a:extLst>
          </p:cNvPr>
          <p:cNvSpPr txBox="1"/>
          <p:nvPr/>
        </p:nvSpPr>
        <p:spPr>
          <a:xfrm>
            <a:off x="226142" y="35431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Duplicates &amp; Outlier Treatment</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pic>
        <p:nvPicPr>
          <p:cNvPr id="3" name="Image 0" descr="/home/claude/nb_images/cell_47.png">
            <a:extLst>
              <a:ext uri="{FF2B5EF4-FFF2-40B4-BE49-F238E27FC236}">
                <a16:creationId xmlns:a16="http://schemas.microsoft.com/office/drawing/2014/main" id="{5A65D1EE-1506-47C4-FDB8-6C3B5CDA8D8B}"/>
              </a:ext>
            </a:extLst>
          </p:cNvPr>
          <p:cNvPicPr>
            <a:picLocks noChangeAspect="1"/>
          </p:cNvPicPr>
          <p:nvPr/>
        </p:nvPicPr>
        <p:blipFill>
          <a:blip r:embed="rId2"/>
          <a:stretch>
            <a:fillRect/>
          </a:stretch>
        </p:blipFill>
        <p:spPr>
          <a:xfrm>
            <a:off x="7570839" y="1471399"/>
            <a:ext cx="4266953" cy="4448504"/>
          </a:xfrm>
          <a:prstGeom prst="rect">
            <a:avLst/>
          </a:prstGeom>
        </p:spPr>
      </p:pic>
      <p:sp>
        <p:nvSpPr>
          <p:cNvPr id="4" name="TextBox 3">
            <a:extLst>
              <a:ext uri="{FF2B5EF4-FFF2-40B4-BE49-F238E27FC236}">
                <a16:creationId xmlns:a16="http://schemas.microsoft.com/office/drawing/2014/main" id="{450D1572-E3A0-6AF0-44C4-BB9D272A7129}"/>
              </a:ext>
            </a:extLst>
          </p:cNvPr>
          <p:cNvSpPr txBox="1"/>
          <p:nvPr/>
        </p:nvSpPr>
        <p:spPr>
          <a:xfrm>
            <a:off x="1656385" y="1257427"/>
            <a:ext cx="5929552" cy="1907895"/>
          </a:xfrm>
          <a:prstGeom prst="rect">
            <a:avLst/>
          </a:prstGeom>
          <a:noFill/>
        </p:spPr>
        <p:txBody>
          <a:bodyPr wrap="square" rtlCol="0">
            <a:spAutoFit/>
          </a:bodyPr>
          <a:lstStyle/>
          <a:p>
            <a:pPr>
              <a:lnSpc>
                <a:spcPct val="115000"/>
              </a:lnSpc>
            </a:pPr>
            <a:r>
              <a:rPr lang="en-US" sz="2000" b="1" dirty="0">
                <a:solidFill>
                  <a:srgbClr val="16213A"/>
                </a:solidFill>
                <a:latin typeface="Calibri" pitchFamily="34" charset="0"/>
                <a:ea typeface="Calibri" pitchFamily="34" charset="-122"/>
                <a:cs typeface="Calibri" pitchFamily="34" charset="-120"/>
              </a:rPr>
              <a:t>Duplicates: </a:t>
            </a:r>
          </a:p>
          <a:p>
            <a:pPr>
              <a:lnSpc>
                <a:spcPct val="115000"/>
              </a:lnSpc>
            </a:pPr>
            <a:r>
              <a:rPr lang="en-US" sz="2000" dirty="0">
                <a:solidFill>
                  <a:srgbClr val="16213A"/>
                </a:solidFill>
                <a:latin typeface="Calibri" pitchFamily="34" charset="0"/>
                <a:ea typeface="Calibri" pitchFamily="34" charset="-122"/>
                <a:cs typeface="Calibri" pitchFamily="34" charset="-120"/>
              </a:rPr>
              <a:t>165 duplicate records were detected and removed. Duplicate rows can bias statistical summaries and visualizations, so each remaining record now represents a unique observation</a:t>
            </a:r>
            <a:r>
              <a:rPr lang="en-US" sz="2400" dirty="0">
                <a:solidFill>
                  <a:srgbClr val="16213A"/>
                </a:solidFill>
                <a:latin typeface="Calibri" pitchFamily="34" charset="0"/>
                <a:ea typeface="Calibri" pitchFamily="34" charset="-122"/>
                <a:cs typeface="Calibri" pitchFamily="34" charset="-120"/>
              </a:rPr>
              <a:t>.</a:t>
            </a:r>
            <a:endParaRPr lang="en-US" sz="2400" dirty="0"/>
          </a:p>
        </p:txBody>
      </p:sp>
      <p:sp>
        <p:nvSpPr>
          <p:cNvPr id="6" name="TextBox 5">
            <a:extLst>
              <a:ext uri="{FF2B5EF4-FFF2-40B4-BE49-F238E27FC236}">
                <a16:creationId xmlns:a16="http://schemas.microsoft.com/office/drawing/2014/main" id="{88BD3570-6CAE-A878-95DD-A474AA939C5C}"/>
              </a:ext>
            </a:extLst>
          </p:cNvPr>
          <p:cNvSpPr txBox="1"/>
          <p:nvPr/>
        </p:nvSpPr>
        <p:spPr>
          <a:xfrm>
            <a:off x="1656385" y="3370744"/>
            <a:ext cx="5929553" cy="2549159"/>
          </a:xfrm>
          <a:prstGeom prst="rect">
            <a:avLst/>
          </a:prstGeom>
          <a:noFill/>
        </p:spPr>
        <p:txBody>
          <a:bodyPr wrap="square" rtlCol="0">
            <a:spAutoFit/>
          </a:bodyPr>
          <a:lstStyle/>
          <a:p>
            <a:pPr>
              <a:lnSpc>
                <a:spcPct val="115000"/>
              </a:lnSpc>
            </a:pPr>
            <a:r>
              <a:rPr lang="en-US" sz="2000" b="1" dirty="0">
                <a:solidFill>
                  <a:srgbClr val="16213A"/>
                </a:solidFill>
                <a:latin typeface="Calibri" pitchFamily="34" charset="0"/>
                <a:ea typeface="Calibri" pitchFamily="34" charset="-122"/>
                <a:cs typeface="Calibri" pitchFamily="34" charset="-120"/>
              </a:rPr>
              <a:t>Outlier Treatment: </a:t>
            </a:r>
          </a:p>
          <a:p>
            <a:pPr>
              <a:lnSpc>
                <a:spcPct val="115000"/>
              </a:lnSpc>
            </a:pPr>
            <a:r>
              <a:rPr lang="en-US" sz="2000" dirty="0">
                <a:solidFill>
                  <a:srgbClr val="16213A"/>
                </a:solidFill>
                <a:latin typeface="Calibri" pitchFamily="34" charset="0"/>
                <a:ea typeface="Calibri" pitchFamily="34" charset="-122"/>
                <a:cs typeface="Calibri" pitchFamily="34" charset="-120"/>
              </a:rPr>
              <a:t>Outliers in </a:t>
            </a:r>
            <a:r>
              <a:rPr lang="en-US" sz="2000" dirty="0" err="1">
                <a:solidFill>
                  <a:srgbClr val="16213A"/>
                </a:solidFill>
                <a:latin typeface="Calibri" pitchFamily="34" charset="0"/>
                <a:ea typeface="Calibri" pitchFamily="34" charset="-122"/>
                <a:cs typeface="Calibri" pitchFamily="34" charset="-120"/>
              </a:rPr>
              <a:t>person_age</a:t>
            </a:r>
            <a:r>
              <a:rPr lang="en-US" sz="2000" dirty="0">
                <a:solidFill>
                  <a:srgbClr val="16213A"/>
                </a:solidFill>
                <a:latin typeface="Calibri" pitchFamily="34" charset="0"/>
                <a:ea typeface="Calibri" pitchFamily="34" charset="-122"/>
                <a:cs typeface="Calibri" pitchFamily="34" charset="-120"/>
              </a:rPr>
              <a:t> were identified using the IQR method and removed (unrealistic ages). Financial variables — </a:t>
            </a:r>
            <a:r>
              <a:rPr lang="en-US" sz="2000" dirty="0" err="1">
                <a:solidFill>
                  <a:srgbClr val="16213A"/>
                </a:solidFill>
                <a:latin typeface="Calibri" pitchFamily="34" charset="0"/>
                <a:ea typeface="Calibri" pitchFamily="34" charset="-122"/>
                <a:cs typeface="Calibri" pitchFamily="34" charset="-120"/>
              </a:rPr>
              <a:t>person_income</a:t>
            </a:r>
            <a:r>
              <a:rPr lang="en-US" sz="2000" dirty="0">
                <a:solidFill>
                  <a:srgbClr val="16213A"/>
                </a:solidFill>
                <a:latin typeface="Calibri" pitchFamily="34" charset="0"/>
                <a:ea typeface="Calibri" pitchFamily="34" charset="-122"/>
                <a:cs typeface="Calibri" pitchFamily="34" charset="-120"/>
              </a:rPr>
              <a:t>, </a:t>
            </a:r>
            <a:r>
              <a:rPr lang="en-US" sz="2000" dirty="0" err="1">
                <a:solidFill>
                  <a:srgbClr val="16213A"/>
                </a:solidFill>
                <a:latin typeface="Calibri" pitchFamily="34" charset="0"/>
                <a:ea typeface="Calibri" pitchFamily="34" charset="-122"/>
                <a:cs typeface="Calibri" pitchFamily="34" charset="-120"/>
              </a:rPr>
              <a:t>loan_amnt</a:t>
            </a:r>
            <a:r>
              <a:rPr lang="en-US" sz="2000" dirty="0">
                <a:solidFill>
                  <a:srgbClr val="16213A"/>
                </a:solidFill>
                <a:latin typeface="Calibri" pitchFamily="34" charset="0"/>
                <a:ea typeface="Calibri" pitchFamily="34" charset="-122"/>
                <a:cs typeface="Calibri" pitchFamily="34" charset="-120"/>
              </a:rPr>
              <a:t>, </a:t>
            </a:r>
            <a:r>
              <a:rPr lang="en-US" sz="2000" dirty="0" err="1">
                <a:solidFill>
                  <a:srgbClr val="16213A"/>
                </a:solidFill>
                <a:latin typeface="Calibri" pitchFamily="34" charset="0"/>
                <a:ea typeface="Calibri" pitchFamily="34" charset="-122"/>
                <a:cs typeface="Calibri" pitchFamily="34" charset="-120"/>
              </a:rPr>
              <a:t>loan_int_rate</a:t>
            </a:r>
            <a:r>
              <a:rPr lang="en-US" sz="2000" dirty="0">
                <a:solidFill>
                  <a:srgbClr val="16213A"/>
                </a:solidFill>
                <a:latin typeface="Calibri" pitchFamily="34" charset="0"/>
                <a:ea typeface="Calibri" pitchFamily="34" charset="-122"/>
                <a:cs typeface="Calibri" pitchFamily="34" charset="-120"/>
              </a:rPr>
              <a:t> — were deliberately left untouched, as extreme values there likely reflect genuine high-income or high-value customers rather than data errors.</a:t>
            </a:r>
            <a:endParaRPr lang="en-US" sz="2000" dirty="0"/>
          </a:p>
        </p:txBody>
      </p:sp>
    </p:spTree>
    <p:extLst>
      <p:ext uri="{BB962C8B-B14F-4D97-AF65-F5344CB8AC3E}">
        <p14:creationId xmlns:p14="http://schemas.microsoft.com/office/powerpoint/2010/main" val="1310300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6A4EF16-92C4-1E14-DE95-A0D9F5B2C6B6}"/>
              </a:ext>
            </a:extLst>
          </p:cNvPr>
          <p:cNvSpPr txBox="1"/>
          <p:nvPr/>
        </p:nvSpPr>
        <p:spPr>
          <a:xfrm>
            <a:off x="0" y="441749"/>
            <a:ext cx="12192000"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Distribution of Age </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12" name="TextBox 11">
            <a:extLst>
              <a:ext uri="{FF2B5EF4-FFF2-40B4-BE49-F238E27FC236}">
                <a16:creationId xmlns:a16="http://schemas.microsoft.com/office/drawing/2014/main" id="{03047A0C-E141-CE49-D38D-5A00E6FE3BA2}"/>
              </a:ext>
            </a:extLst>
          </p:cNvPr>
          <p:cNvSpPr txBox="1"/>
          <p:nvPr/>
        </p:nvSpPr>
        <p:spPr>
          <a:xfrm>
            <a:off x="5750115" y="1472823"/>
            <a:ext cx="5910943" cy="3912353"/>
          </a:xfrm>
          <a:prstGeom prst="rect">
            <a:avLst/>
          </a:prstGeom>
          <a:noFill/>
        </p:spPr>
        <p:txBody>
          <a:bodyPr wrap="square" rtlCol="0">
            <a:spAutoFit/>
          </a:bodyPr>
          <a:lstStyle/>
          <a:p>
            <a:pPr lvl="0" eaLnBrk="0" fontAlgn="base" hangingPunct="0">
              <a:spcBef>
                <a:spcPct val="0"/>
              </a:spcBef>
              <a:spcAft>
                <a:spcPct val="0"/>
              </a:spcAft>
              <a:buClrTx/>
            </a:pPr>
            <a:r>
              <a:rPr lang="en-US" altLang="en-US" sz="2800" b="1" dirty="0">
                <a:solidFill>
                  <a:schemeClr val="tx1"/>
                </a:solidFill>
                <a:latin typeface="Google Sans"/>
                <a:ea typeface="Calibri" panose="020F0502020204030204" pitchFamily="34" charset="0"/>
                <a:cs typeface="Calibri" panose="020F0502020204030204" pitchFamily="34" charset="0"/>
              </a:rPr>
              <a:t>Key Insights</a:t>
            </a:r>
            <a:endParaRPr lang="en-US" altLang="en-US" sz="11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342900" indent="-342900">
              <a:lnSpc>
                <a:spcPct val="150000"/>
              </a:lnSpc>
              <a:spcAft>
                <a:spcPts val="400"/>
              </a:spcAft>
              <a:buSzPct val="100000"/>
              <a:buChar char="•"/>
            </a:pPr>
            <a:r>
              <a:rPr lang="en-US" sz="2000" dirty="0"/>
              <a:t>Most applicants are between 20–30 years old.</a:t>
            </a:r>
          </a:p>
          <a:p>
            <a:pPr marL="342900" indent="-342900">
              <a:lnSpc>
                <a:spcPct val="150000"/>
              </a:lnSpc>
              <a:spcAft>
                <a:spcPts val="400"/>
              </a:spcAft>
              <a:buSzPct val="100000"/>
              <a:buChar char="•"/>
            </a:pPr>
            <a:r>
              <a:rPr lang="en-US" sz="2000" dirty="0"/>
              <a:t>Distribution is right-skewed, peaking around age 22–25.</a:t>
            </a:r>
          </a:p>
          <a:p>
            <a:pPr marL="342900" indent="-342900">
              <a:lnSpc>
                <a:spcPct val="150000"/>
              </a:lnSpc>
              <a:spcAft>
                <a:spcPts val="400"/>
              </a:spcAft>
              <a:buSzPct val="100000"/>
              <a:buChar char="•"/>
            </a:pPr>
            <a:r>
              <a:rPr lang="en-US" sz="2000" dirty="0"/>
              <a:t>Fewer older applicants above 35 years.</a:t>
            </a:r>
          </a:p>
          <a:p>
            <a:pPr marL="342900" indent="-342900">
              <a:lnSpc>
                <a:spcPct val="150000"/>
              </a:lnSpc>
              <a:spcAft>
                <a:spcPts val="400"/>
              </a:spcAft>
              <a:buSzPct val="100000"/>
              <a:buChar char="•"/>
            </a:pPr>
            <a:r>
              <a:rPr lang="en-US" sz="2000" dirty="0"/>
              <a:t>After outlier removal, the range is capped at 20–40 years.</a:t>
            </a:r>
          </a:p>
          <a:p>
            <a:pPr marL="342900" indent="-342900">
              <a:lnSpc>
                <a:spcPct val="150000"/>
              </a:lnSpc>
              <a:spcAft>
                <a:spcPts val="400"/>
              </a:spcAft>
              <a:buSzPct val="100000"/>
              <a:buChar char="•"/>
            </a:pPr>
            <a:r>
              <a:rPr lang="en-US" sz="2000" dirty="0"/>
              <a:t>Young adults form the dominant borrower group</a:t>
            </a:r>
            <a:r>
              <a:rPr lang="en-US" sz="2000" dirty="0">
                <a:solidFill>
                  <a:srgbClr val="445580"/>
                </a:solidFill>
              </a:rPr>
              <a:t>.</a:t>
            </a:r>
            <a:endParaRPr lang="en-US" sz="2000" dirty="0"/>
          </a:p>
        </p:txBody>
      </p:sp>
      <p:pic>
        <p:nvPicPr>
          <p:cNvPr id="3" name="Image 0">
            <a:extLst>
              <a:ext uri="{FF2B5EF4-FFF2-40B4-BE49-F238E27FC236}">
                <a16:creationId xmlns:a16="http://schemas.microsoft.com/office/drawing/2014/main" id="{C72D6F48-42F8-C677-4E70-9D97E8BA0879}"/>
              </a:ext>
            </a:extLst>
          </p:cNvPr>
          <p:cNvPicPr>
            <a:picLocks noChangeAspect="1"/>
          </p:cNvPicPr>
          <p:nvPr/>
        </p:nvPicPr>
        <p:blipFill>
          <a:blip r:embed="rId2"/>
          <a:stretch>
            <a:fillRect/>
          </a:stretch>
        </p:blipFill>
        <p:spPr>
          <a:xfrm>
            <a:off x="393291" y="1364667"/>
            <a:ext cx="5258146" cy="4524855"/>
          </a:xfrm>
          <a:prstGeom prst="rect">
            <a:avLst/>
          </a:prstGeom>
          <a:effectLst>
            <a:outerShdw blurRad="101600" dist="38100" dir="2700000" algn="bl" rotWithShape="0">
              <a:srgbClr val="000000">
                <a:alpha val="12000"/>
              </a:srgbClr>
            </a:outerShdw>
          </a:effectLst>
        </p:spPr>
      </p:pic>
    </p:spTree>
    <p:extLst>
      <p:ext uri="{BB962C8B-B14F-4D97-AF65-F5344CB8AC3E}">
        <p14:creationId xmlns:p14="http://schemas.microsoft.com/office/powerpoint/2010/main" val="887464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2F48E18-F302-0EDA-2EC6-13E9076ED34C}"/>
              </a:ext>
            </a:extLst>
          </p:cNvPr>
          <p:cNvPicPr>
            <a:picLocks noChangeAspect="1"/>
          </p:cNvPicPr>
          <p:nvPr/>
        </p:nvPicPr>
        <p:blipFill>
          <a:blip r:embed="rId2"/>
          <a:stretch>
            <a:fillRect/>
          </a:stretch>
        </p:blipFill>
        <p:spPr>
          <a:xfrm>
            <a:off x="544215" y="1475791"/>
            <a:ext cx="5109334" cy="4443229"/>
          </a:xfrm>
          <a:prstGeom prst="rect">
            <a:avLst/>
          </a:prstGeom>
          <a:effectLst>
            <a:outerShdw blurRad="101600" dist="38100" dir="2700000" algn="bl" rotWithShape="0">
              <a:srgbClr val="000000">
                <a:alpha val="12000"/>
              </a:srgbClr>
            </a:outerShdw>
          </a:effectLst>
        </p:spPr>
      </p:pic>
      <p:sp>
        <p:nvSpPr>
          <p:cNvPr id="5" name="TextBox 4">
            <a:extLst>
              <a:ext uri="{FF2B5EF4-FFF2-40B4-BE49-F238E27FC236}">
                <a16:creationId xmlns:a16="http://schemas.microsoft.com/office/drawing/2014/main" id="{8953D7C9-2DB5-B701-222E-8DF8D38454DF}"/>
              </a:ext>
            </a:extLst>
          </p:cNvPr>
          <p:cNvSpPr txBox="1"/>
          <p:nvPr/>
        </p:nvSpPr>
        <p:spPr>
          <a:xfrm>
            <a:off x="6025418" y="1596066"/>
            <a:ext cx="5910943" cy="3912353"/>
          </a:xfrm>
          <a:prstGeom prst="rect">
            <a:avLst/>
          </a:prstGeom>
          <a:noFill/>
        </p:spPr>
        <p:txBody>
          <a:bodyPr wrap="square" rtlCol="0">
            <a:spAutoFit/>
          </a:bodyPr>
          <a:lstStyle/>
          <a:p>
            <a:pPr lvl="0" eaLnBrk="0" fontAlgn="base" hangingPunct="0">
              <a:spcBef>
                <a:spcPct val="0"/>
              </a:spcBef>
              <a:spcAft>
                <a:spcPct val="0"/>
              </a:spcAft>
              <a:buClrTx/>
            </a:pPr>
            <a:r>
              <a:rPr lang="en-US" altLang="en-US" sz="2800" b="1" dirty="0">
                <a:solidFill>
                  <a:schemeClr val="tx1"/>
                </a:solidFill>
                <a:latin typeface="Google Sans"/>
                <a:ea typeface="Calibri" panose="020F0502020204030204" pitchFamily="34" charset="0"/>
                <a:cs typeface="Calibri" panose="020F0502020204030204" pitchFamily="34" charset="0"/>
              </a:rPr>
              <a:t>Key Insights</a:t>
            </a:r>
            <a:endParaRPr lang="en-US" altLang="en-US" sz="11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342900" indent="-342900">
              <a:lnSpc>
                <a:spcPct val="150000"/>
              </a:lnSpc>
              <a:spcAft>
                <a:spcPts val="400"/>
              </a:spcAft>
              <a:buSzPct val="100000"/>
              <a:buChar char="•"/>
            </a:pPr>
            <a:r>
              <a:rPr lang="en-US" sz="2000" dirty="0"/>
              <a:t>Income is highly right-skewed.</a:t>
            </a:r>
          </a:p>
          <a:p>
            <a:pPr marL="342900" indent="-342900">
              <a:lnSpc>
                <a:spcPct val="150000"/>
              </a:lnSpc>
              <a:spcAft>
                <a:spcPts val="400"/>
              </a:spcAft>
              <a:buSzPct val="100000"/>
              <a:buChar char="•"/>
            </a:pPr>
            <a:r>
              <a:rPr lang="en-US" sz="2000" dirty="0"/>
              <a:t>Majority of applicants earn below ₹2,00,000 annually.</a:t>
            </a:r>
          </a:p>
          <a:p>
            <a:pPr marL="342900" indent="-342900">
              <a:lnSpc>
                <a:spcPct val="150000"/>
              </a:lnSpc>
              <a:spcAft>
                <a:spcPts val="400"/>
              </a:spcAft>
              <a:buSzPct val="100000"/>
              <a:buChar char="•"/>
            </a:pPr>
            <a:r>
              <a:rPr lang="en-US" sz="2000" dirty="0"/>
              <a:t>A small proportion earns above ₹5,00,000.</a:t>
            </a:r>
          </a:p>
          <a:p>
            <a:pPr marL="342900" indent="-342900">
              <a:lnSpc>
                <a:spcPct val="150000"/>
              </a:lnSpc>
              <a:spcAft>
                <a:spcPts val="400"/>
              </a:spcAft>
              <a:buSzPct val="100000"/>
              <a:buChar char="•"/>
            </a:pPr>
            <a:r>
              <a:rPr lang="en-US" sz="2000" dirty="0"/>
              <a:t>Extreme high-income values represent genuine high earners.</a:t>
            </a:r>
          </a:p>
          <a:p>
            <a:pPr marL="342900" indent="-342900">
              <a:lnSpc>
                <a:spcPct val="150000"/>
              </a:lnSpc>
              <a:spcAft>
                <a:spcPts val="400"/>
              </a:spcAft>
              <a:buSzPct val="100000"/>
              <a:buChar char="•"/>
            </a:pPr>
            <a:r>
              <a:rPr lang="en-US" sz="2000" dirty="0"/>
              <a:t>Financial disparity is clearly visible in the dataset.</a:t>
            </a:r>
          </a:p>
        </p:txBody>
      </p:sp>
      <p:sp>
        <p:nvSpPr>
          <p:cNvPr id="7" name="TextBox 6">
            <a:extLst>
              <a:ext uri="{FF2B5EF4-FFF2-40B4-BE49-F238E27FC236}">
                <a16:creationId xmlns:a16="http://schemas.microsoft.com/office/drawing/2014/main" id="{9E451520-C58F-E7B3-78B2-E4E35526096C}"/>
              </a:ext>
            </a:extLst>
          </p:cNvPr>
          <p:cNvSpPr txBox="1"/>
          <p:nvPr/>
        </p:nvSpPr>
        <p:spPr>
          <a:xfrm>
            <a:off x="0" y="57062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Distribution of Annual Income</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38289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8EB8565-4A2F-C886-2BB9-C6DB981100A0}"/>
              </a:ext>
            </a:extLst>
          </p:cNvPr>
          <p:cNvPicPr>
            <a:picLocks noChangeAspect="1"/>
          </p:cNvPicPr>
          <p:nvPr/>
        </p:nvPicPr>
        <p:blipFill>
          <a:blip r:embed="rId2"/>
          <a:stretch>
            <a:fillRect/>
          </a:stretch>
        </p:blipFill>
        <p:spPr>
          <a:xfrm>
            <a:off x="636147" y="1494284"/>
            <a:ext cx="5056692" cy="4375574"/>
          </a:xfrm>
          <a:prstGeom prst="rect">
            <a:avLst/>
          </a:prstGeom>
          <a:effectLst>
            <a:outerShdw blurRad="101600" dist="38100" dir="2700000" algn="bl" rotWithShape="0">
              <a:srgbClr val="000000">
                <a:alpha val="12000"/>
              </a:srgbClr>
            </a:outerShdw>
          </a:effectLst>
        </p:spPr>
      </p:pic>
      <p:sp>
        <p:nvSpPr>
          <p:cNvPr id="3" name="TextBox 2">
            <a:extLst>
              <a:ext uri="{FF2B5EF4-FFF2-40B4-BE49-F238E27FC236}">
                <a16:creationId xmlns:a16="http://schemas.microsoft.com/office/drawing/2014/main" id="{C3CA902F-F8DE-3194-BBD7-B2FAC4D76333}"/>
              </a:ext>
            </a:extLst>
          </p:cNvPr>
          <p:cNvSpPr txBox="1"/>
          <p:nvPr/>
        </p:nvSpPr>
        <p:spPr>
          <a:xfrm>
            <a:off x="6005753" y="1703656"/>
            <a:ext cx="5910943" cy="3450688"/>
          </a:xfrm>
          <a:prstGeom prst="rect">
            <a:avLst/>
          </a:prstGeom>
          <a:noFill/>
        </p:spPr>
        <p:txBody>
          <a:bodyPr wrap="square" rtlCol="0">
            <a:spAutoFit/>
          </a:bodyPr>
          <a:lstStyle/>
          <a:p>
            <a:pPr lvl="0" eaLnBrk="0" fontAlgn="base" hangingPunct="0">
              <a:spcBef>
                <a:spcPct val="0"/>
              </a:spcBef>
              <a:spcAft>
                <a:spcPct val="0"/>
              </a:spcAft>
              <a:buClrTx/>
            </a:pPr>
            <a:r>
              <a:rPr lang="en-US" altLang="en-US" sz="2800" b="1" dirty="0">
                <a:solidFill>
                  <a:schemeClr val="tx1"/>
                </a:solidFill>
                <a:latin typeface="Google Sans"/>
                <a:ea typeface="Calibri" panose="020F0502020204030204" pitchFamily="34" charset="0"/>
                <a:cs typeface="Calibri" panose="020F0502020204030204" pitchFamily="34" charset="0"/>
              </a:rPr>
              <a:t>Key Insights</a:t>
            </a:r>
            <a:endParaRPr lang="en-US" altLang="en-US" sz="11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342900" indent="-342900">
              <a:lnSpc>
                <a:spcPct val="150000"/>
              </a:lnSpc>
              <a:spcAft>
                <a:spcPts val="400"/>
              </a:spcAft>
              <a:buSzPct val="100000"/>
              <a:buChar char="•"/>
            </a:pPr>
            <a:r>
              <a:rPr lang="en-US" sz="2000" dirty="0"/>
              <a:t>78.1% of loans are Approved.</a:t>
            </a:r>
          </a:p>
          <a:p>
            <a:pPr marL="342900" indent="-342900">
              <a:lnSpc>
                <a:spcPct val="150000"/>
              </a:lnSpc>
              <a:spcAft>
                <a:spcPts val="400"/>
              </a:spcAft>
              <a:buSzPct val="100000"/>
              <a:buChar char="•"/>
            </a:pPr>
            <a:r>
              <a:rPr lang="en-US" sz="2000" dirty="0"/>
              <a:t>21.9% of applications are Not Approved.</a:t>
            </a:r>
          </a:p>
          <a:p>
            <a:pPr marL="342900" indent="-342900">
              <a:lnSpc>
                <a:spcPct val="150000"/>
              </a:lnSpc>
              <a:spcAft>
                <a:spcPts val="400"/>
              </a:spcAft>
              <a:buSzPct val="100000"/>
              <a:buChar char="•"/>
            </a:pPr>
            <a:r>
              <a:rPr lang="en-US" sz="2000" dirty="0"/>
              <a:t>Dataset is imbalanced — Approved loans dominate.</a:t>
            </a:r>
          </a:p>
          <a:p>
            <a:pPr marL="342900" indent="-342900">
              <a:lnSpc>
                <a:spcPct val="150000"/>
              </a:lnSpc>
              <a:spcAft>
                <a:spcPts val="400"/>
              </a:spcAft>
              <a:buSzPct val="100000"/>
              <a:buChar char="•"/>
            </a:pPr>
            <a:r>
              <a:rPr lang="en-US" sz="2000" dirty="0"/>
              <a:t>Imbalance must be addressed in predictive modeling.</a:t>
            </a:r>
          </a:p>
          <a:p>
            <a:pPr marL="342900" indent="-342900">
              <a:lnSpc>
                <a:spcPct val="150000"/>
              </a:lnSpc>
              <a:spcAft>
                <a:spcPts val="400"/>
              </a:spcAft>
              <a:buSzPct val="100000"/>
              <a:buChar char="•"/>
            </a:pPr>
            <a:r>
              <a:rPr lang="en-US" sz="2000" dirty="0"/>
              <a:t>Helps understand overall credit approval trend.</a:t>
            </a:r>
          </a:p>
        </p:txBody>
      </p:sp>
      <p:sp>
        <p:nvSpPr>
          <p:cNvPr id="4" name="TextBox 1">
            <a:extLst>
              <a:ext uri="{FF2B5EF4-FFF2-40B4-BE49-F238E27FC236}">
                <a16:creationId xmlns:a16="http://schemas.microsoft.com/office/drawing/2014/main" id="{A6A4EF16-92C4-1E14-DE95-A0D9F5B2C6B6}"/>
              </a:ext>
            </a:extLst>
          </p:cNvPr>
          <p:cNvSpPr txBox="1"/>
          <p:nvPr/>
        </p:nvSpPr>
        <p:spPr>
          <a:xfrm>
            <a:off x="0" y="453687"/>
            <a:ext cx="12192000"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Loan Status Distribution </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1265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claude/nb_images/cell_86.png">
            <a:extLst>
              <a:ext uri="{FF2B5EF4-FFF2-40B4-BE49-F238E27FC236}">
                <a16:creationId xmlns:a16="http://schemas.microsoft.com/office/drawing/2014/main" id="{42C23DA9-D1C2-5D74-BFC7-E9E5BC148819}"/>
              </a:ext>
            </a:extLst>
          </p:cNvPr>
          <p:cNvPicPr>
            <a:picLocks noChangeAspect="1"/>
          </p:cNvPicPr>
          <p:nvPr/>
        </p:nvPicPr>
        <p:blipFill>
          <a:blip r:embed="rId2"/>
          <a:stretch>
            <a:fillRect/>
          </a:stretch>
        </p:blipFill>
        <p:spPr>
          <a:xfrm>
            <a:off x="1128577" y="1569720"/>
            <a:ext cx="4798476" cy="3108960"/>
          </a:xfrm>
          <a:prstGeom prst="rect">
            <a:avLst/>
          </a:prstGeom>
        </p:spPr>
      </p:pic>
      <p:pic>
        <p:nvPicPr>
          <p:cNvPr id="3" name="Image 1" descr="/home/claude/nb_images/cell_89.png">
            <a:extLst>
              <a:ext uri="{FF2B5EF4-FFF2-40B4-BE49-F238E27FC236}">
                <a16:creationId xmlns:a16="http://schemas.microsoft.com/office/drawing/2014/main" id="{05D73424-382D-4B27-74FE-20F619487802}"/>
              </a:ext>
            </a:extLst>
          </p:cNvPr>
          <p:cNvPicPr>
            <a:picLocks noChangeAspect="1"/>
          </p:cNvPicPr>
          <p:nvPr/>
        </p:nvPicPr>
        <p:blipFill>
          <a:blip r:embed="rId3"/>
          <a:stretch>
            <a:fillRect/>
          </a:stretch>
        </p:blipFill>
        <p:spPr>
          <a:xfrm>
            <a:off x="6853084" y="1569720"/>
            <a:ext cx="4503175" cy="3108960"/>
          </a:xfrm>
          <a:prstGeom prst="rect">
            <a:avLst/>
          </a:prstGeom>
        </p:spPr>
      </p:pic>
      <p:sp>
        <p:nvSpPr>
          <p:cNvPr id="4" name="TextBox 3">
            <a:extLst>
              <a:ext uri="{FF2B5EF4-FFF2-40B4-BE49-F238E27FC236}">
                <a16:creationId xmlns:a16="http://schemas.microsoft.com/office/drawing/2014/main" id="{B8480BB9-6929-6255-8591-7101AC076276}"/>
              </a:ext>
            </a:extLst>
          </p:cNvPr>
          <p:cNvSpPr txBox="1"/>
          <p:nvPr/>
        </p:nvSpPr>
        <p:spPr>
          <a:xfrm>
            <a:off x="0" y="570623"/>
            <a:ext cx="12192000" cy="830997"/>
          </a:xfrm>
          <a:prstGeom prst="rect">
            <a:avLst/>
          </a:prstGeom>
          <a:noFill/>
        </p:spPr>
        <p:txBody>
          <a:bodyPr wrap="square" rtlCol="0">
            <a:spAutoFit/>
          </a:bodyPr>
          <a:lstStyle/>
          <a:p>
            <a:pPr algn="ctr"/>
            <a:r>
              <a:rPr lang="en-IN" sz="3000" b="1" dirty="0">
                <a:solidFill>
                  <a:srgbClr val="FF0000"/>
                </a:solidFill>
                <a:latin typeface="Times New Roman"/>
                <a:ea typeface="Calibri" panose="020F0502020204030204" pitchFamily="34" charset="0"/>
                <a:cs typeface="Times New Roman"/>
              </a:rPr>
              <a:t>Home Ownership &amp; Loan Intent</a:t>
            </a:r>
          </a:p>
          <a:p>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A983FA0-111E-FF61-282F-04AB8E467CB1}"/>
              </a:ext>
            </a:extLst>
          </p:cNvPr>
          <p:cNvSpPr txBox="1"/>
          <p:nvPr/>
        </p:nvSpPr>
        <p:spPr>
          <a:xfrm>
            <a:off x="1784554" y="5026671"/>
            <a:ext cx="10137059" cy="1492716"/>
          </a:xfrm>
          <a:prstGeom prst="rect">
            <a:avLst/>
          </a:prstGeom>
          <a:noFill/>
        </p:spPr>
        <p:txBody>
          <a:bodyPr wrap="square" rtlCol="0">
            <a:spAutoFit/>
          </a:bodyPr>
          <a:lstStyle/>
          <a:p>
            <a:pPr eaLnBrk="0" fontAlgn="base" hangingPunct="0">
              <a:spcBef>
                <a:spcPct val="0"/>
              </a:spcBef>
              <a:spcAft>
                <a:spcPct val="0"/>
              </a:spcAft>
            </a:pPr>
            <a:r>
              <a:rPr lang="en-US" sz="2000" b="1" dirty="0">
                <a:solidFill>
                  <a:srgbClr val="16213A"/>
                </a:solidFill>
                <a:latin typeface="Calibri" pitchFamily="34" charset="0"/>
                <a:ea typeface="Calibri" pitchFamily="34" charset="-122"/>
                <a:cs typeface="Calibri" pitchFamily="34" charset="-120"/>
              </a:rPr>
              <a:t>Home Ownership: </a:t>
            </a:r>
            <a:r>
              <a:rPr lang="en-US" sz="2000" dirty="0">
                <a:solidFill>
                  <a:srgbClr val="16213A"/>
                </a:solidFill>
                <a:latin typeface="Calibri" pitchFamily="34" charset="0"/>
                <a:ea typeface="Calibri" pitchFamily="34" charset="-122"/>
                <a:cs typeface="Calibri" pitchFamily="34" charset="-120"/>
              </a:rPr>
              <a:t>RENT and MORTGAGE dominate the applicant base, with far fewer outright owners. </a:t>
            </a:r>
          </a:p>
          <a:p>
            <a:pPr eaLnBrk="0" fontAlgn="base" hangingPunct="0">
              <a:spcBef>
                <a:spcPct val="0"/>
              </a:spcBef>
              <a:spcAft>
                <a:spcPct val="0"/>
              </a:spcAft>
            </a:pPr>
            <a:r>
              <a:rPr lang="en-US" sz="2000" b="1" dirty="0">
                <a:solidFill>
                  <a:srgbClr val="16213A"/>
                </a:solidFill>
                <a:latin typeface="Calibri" pitchFamily="34" charset="0"/>
                <a:ea typeface="Calibri" pitchFamily="34" charset="-122"/>
                <a:cs typeface="Calibri" pitchFamily="34" charset="-120"/>
              </a:rPr>
              <a:t>Loan Intent: </a:t>
            </a:r>
            <a:r>
              <a:rPr lang="en-US" sz="2000" dirty="0">
                <a:solidFill>
                  <a:srgbClr val="16213A"/>
                </a:solidFill>
                <a:latin typeface="Calibri" pitchFamily="34" charset="0"/>
                <a:ea typeface="Calibri" pitchFamily="34" charset="-122"/>
                <a:cs typeface="Calibri" pitchFamily="34" charset="-120"/>
              </a:rPr>
              <a:t>Education and Medical purposes are among the most frequent reasons for borrowing.</a:t>
            </a:r>
            <a:endParaRPr lang="en-US" sz="2000" dirty="0"/>
          </a:p>
          <a:p>
            <a:pPr lvl="0" eaLnBrk="0" fontAlgn="base" hangingPunct="0">
              <a:spcBef>
                <a:spcPct val="0"/>
              </a:spcBef>
              <a:spcAft>
                <a:spcPct val="0"/>
              </a:spcAft>
              <a:buClrTx/>
            </a:pPr>
            <a:endParaRPr lang="en-US" altLang="en-US" sz="11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6242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E4FBBD-1022-FA20-C2EC-6849D2073684}"/>
              </a:ext>
            </a:extLst>
          </p:cNvPr>
          <p:cNvSpPr txBox="1"/>
          <p:nvPr/>
        </p:nvSpPr>
        <p:spPr>
          <a:xfrm>
            <a:off x="0" y="803136"/>
            <a:ext cx="12192000"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Income vs Loan Amount</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13" name="TextBox 12">
            <a:extLst>
              <a:ext uri="{FF2B5EF4-FFF2-40B4-BE49-F238E27FC236}">
                <a16:creationId xmlns:a16="http://schemas.microsoft.com/office/drawing/2014/main" id="{1F0D38AF-86E1-BB05-5D34-4EC6BDD7D5D6}"/>
              </a:ext>
            </a:extLst>
          </p:cNvPr>
          <p:cNvSpPr txBox="1"/>
          <p:nvPr/>
        </p:nvSpPr>
        <p:spPr>
          <a:xfrm>
            <a:off x="6223819" y="1967666"/>
            <a:ext cx="5393506" cy="4098558"/>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A scatter plot was used to study the relationship between two continuous variables — income and loan amount.</a:t>
            </a:r>
            <a:endParaRPr lang="en-US" sz="2000" dirty="0"/>
          </a:p>
          <a:p>
            <a:pPr>
              <a:lnSpc>
                <a:spcPct val="115000"/>
              </a:lnSpc>
            </a:pPr>
            <a:endParaRPr lang="en-US" sz="2000" dirty="0"/>
          </a:p>
          <a:p>
            <a:pPr>
              <a:lnSpc>
                <a:spcPct val="115000"/>
              </a:lnSpc>
            </a:pPr>
            <a:r>
              <a:rPr lang="en-US" sz="2000" b="1" dirty="0">
                <a:solidFill>
                  <a:srgbClr val="16213A"/>
                </a:solidFill>
                <a:latin typeface="Calibri" pitchFamily="34" charset="0"/>
                <a:ea typeface="Calibri" pitchFamily="34" charset="-122"/>
                <a:cs typeface="Calibri" pitchFamily="34" charset="-120"/>
              </a:rPr>
              <a:t>Observation: </a:t>
            </a:r>
            <a:r>
              <a:rPr lang="en-US" sz="2000" dirty="0">
                <a:solidFill>
                  <a:srgbClr val="16213A"/>
                </a:solidFill>
                <a:latin typeface="Calibri" pitchFamily="34" charset="0"/>
                <a:ea typeface="Calibri" pitchFamily="34" charset="-122"/>
                <a:cs typeface="Calibri" pitchFamily="34" charset="-120"/>
              </a:rPr>
              <a:t>Higher-income customers tend to request larger loans, but the relationship is loose, suggesting income alone does not fully determine loan size — </a:t>
            </a:r>
            <a:r>
              <a:rPr lang="en-US" sz="2000" dirty="0" err="1">
                <a:solidFill>
                  <a:srgbClr val="16213A"/>
                </a:solidFill>
                <a:latin typeface="Calibri" pitchFamily="34" charset="0"/>
                <a:ea typeface="Calibri" pitchFamily="34" charset="-122"/>
                <a:cs typeface="Calibri" pitchFamily="34" charset="-120"/>
              </a:rPr>
              <a:t>loan_intent</a:t>
            </a:r>
            <a:r>
              <a:rPr lang="en-US" sz="2000" dirty="0">
                <a:solidFill>
                  <a:srgbClr val="16213A"/>
                </a:solidFill>
                <a:latin typeface="Calibri" pitchFamily="34" charset="0"/>
                <a:ea typeface="Calibri" pitchFamily="34" charset="-122"/>
                <a:cs typeface="Calibri" pitchFamily="34" charset="-120"/>
              </a:rPr>
              <a:t> and </a:t>
            </a:r>
            <a:r>
              <a:rPr lang="en-US" sz="2000" dirty="0" err="1">
                <a:solidFill>
                  <a:srgbClr val="16213A"/>
                </a:solidFill>
                <a:latin typeface="Calibri" pitchFamily="34" charset="0"/>
                <a:ea typeface="Calibri" pitchFamily="34" charset="-122"/>
                <a:cs typeface="Calibri" pitchFamily="34" charset="-120"/>
              </a:rPr>
              <a:t>loan_grade</a:t>
            </a:r>
            <a:r>
              <a:rPr lang="en-US" sz="2000" dirty="0">
                <a:solidFill>
                  <a:srgbClr val="16213A"/>
                </a:solidFill>
                <a:latin typeface="Calibri" pitchFamily="34" charset="0"/>
                <a:ea typeface="Calibri" pitchFamily="34" charset="-122"/>
                <a:cs typeface="Calibri" pitchFamily="34" charset="-120"/>
              </a:rPr>
              <a:t> also play a role.</a:t>
            </a:r>
            <a:endParaRPr lang="en-US" sz="2000" dirty="0"/>
          </a:p>
          <a:p>
            <a:pPr>
              <a:lnSpc>
                <a:spcPct val="150000"/>
              </a:lnSpc>
              <a:spcAft>
                <a:spcPts val="400"/>
              </a:spcAft>
              <a:buSzPct val="100000"/>
            </a:pPr>
            <a:endParaRPr lang="en-US" sz="2000" dirty="0"/>
          </a:p>
          <a:p>
            <a:pPr lvl="0" eaLnBrk="0" fontAlgn="base" hangingPunct="0">
              <a:spcBef>
                <a:spcPct val="0"/>
              </a:spcBef>
              <a:spcAft>
                <a:spcPct val="0"/>
              </a:spcAft>
              <a:buClrTx/>
            </a:pPr>
            <a:endParaRPr lang="en-US" altLang="en-US" sz="2000" dirty="0">
              <a:solidFill>
                <a:schemeClr val="tx1"/>
              </a:solidFill>
              <a:latin typeface="Arial "/>
              <a:ea typeface="Calibri" panose="020F0502020204030204" pitchFamily="34" charset="0"/>
              <a:cs typeface="Calibri" panose="020F0502020204030204" pitchFamily="34" charset="0"/>
            </a:endParaRPr>
          </a:p>
        </p:txBody>
      </p:sp>
      <p:sp>
        <p:nvSpPr>
          <p:cNvPr id="14" name="Rectangle 19">
            <a:extLst>
              <a:ext uri="{FF2B5EF4-FFF2-40B4-BE49-F238E27FC236}">
                <a16:creationId xmlns:a16="http://schemas.microsoft.com/office/drawing/2014/main" id="{5240EB5E-9123-B200-FADB-885CF70DDAEE}"/>
              </a:ext>
            </a:extLst>
          </p:cNvPr>
          <p:cNvSpPr>
            <a:spLocks noChangeArrowheads="1"/>
          </p:cNvSpPr>
          <p:nvPr/>
        </p:nvSpPr>
        <p:spPr bwMode="auto">
          <a:xfrm>
            <a:off x="0" y="-228239"/>
            <a:ext cx="65" cy="456479"/>
          </a:xfrm>
          <a:prstGeom prst="rect">
            <a:avLst/>
          </a:prstGeom>
          <a:solidFill>
            <a:srgbClr val="1012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76176" rIns="0" bIns="101568"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p:txBody>
      </p:sp>
      <p:sp>
        <p:nvSpPr>
          <p:cNvPr id="15" name="Rectangle 26">
            <a:extLst>
              <a:ext uri="{FF2B5EF4-FFF2-40B4-BE49-F238E27FC236}">
                <a16:creationId xmlns:a16="http://schemas.microsoft.com/office/drawing/2014/main" id="{8A6A79C3-6399-D447-A164-8E0409BB8B33}"/>
              </a:ext>
            </a:extLst>
          </p:cNvPr>
          <p:cNvSpPr>
            <a:spLocks noChangeArrowheads="1"/>
          </p:cNvSpPr>
          <p:nvPr/>
        </p:nvSpPr>
        <p:spPr bwMode="auto">
          <a:xfrm>
            <a:off x="0" y="-145951"/>
            <a:ext cx="184731" cy="307777"/>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16" name="Rectangle 27">
            <a:extLst>
              <a:ext uri="{FF2B5EF4-FFF2-40B4-BE49-F238E27FC236}">
                <a16:creationId xmlns:a16="http://schemas.microsoft.com/office/drawing/2014/main" id="{571A71D6-30B5-15A1-98A2-D1F431D9C05B}"/>
              </a:ext>
            </a:extLst>
          </p:cNvPr>
          <p:cNvSpPr>
            <a:spLocks noChangeArrowheads="1"/>
          </p:cNvSpPr>
          <p:nvPr/>
        </p:nvSpPr>
        <p:spPr bwMode="auto">
          <a:xfrm>
            <a:off x="0" y="-230346"/>
            <a:ext cx="184731"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8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br>
            <a:endParaRPr kumimoji="0" lang="en-US" altLang="en-US" sz="18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p:txBody>
      </p:sp>
      <p:pic>
        <p:nvPicPr>
          <p:cNvPr id="3092" name="Picture 20">
            <a:extLst>
              <a:ext uri="{FF2B5EF4-FFF2-40B4-BE49-F238E27FC236}">
                <a16:creationId xmlns:a16="http://schemas.microsoft.com/office/drawing/2014/main" id="{4F2152D3-EB3A-2EF9-2BB3-F4504A81B3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5659438"/>
            <a:ext cx="9525" cy="9525"/>
          </a:xfrm>
          <a:prstGeom prst="rect">
            <a:avLst/>
          </a:prstGeom>
          <a:noFill/>
          <a:extLst>
            <a:ext uri="{909E8E84-426E-40DD-AFC4-6F175D3DCCD1}">
              <a14:hiddenFill xmlns:a14="http://schemas.microsoft.com/office/drawing/2010/main">
                <a:solidFill>
                  <a:srgbClr val="FFFFFF"/>
                </a:solidFill>
              </a14:hiddenFill>
            </a:ext>
          </a:extLst>
        </p:spPr>
      </p:pic>
      <p:pic>
        <p:nvPicPr>
          <p:cNvPr id="3093" name="Picture 21">
            <a:extLst>
              <a:ext uri="{FF2B5EF4-FFF2-40B4-BE49-F238E27FC236}">
                <a16:creationId xmlns:a16="http://schemas.microsoft.com/office/drawing/2014/main" id="{A6A3F78C-4D0A-C5C8-BB64-EAFD566C3E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4135438"/>
            <a:ext cx="9525" cy="9525"/>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a:extLst>
              <a:ext uri="{FF2B5EF4-FFF2-40B4-BE49-F238E27FC236}">
                <a16:creationId xmlns:a16="http://schemas.microsoft.com/office/drawing/2014/main" id="{A7056C03-0B10-CDDD-9137-567D6063A1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2428875"/>
            <a:ext cx="9525" cy="9525"/>
          </a:xfrm>
          <a:prstGeom prst="rect">
            <a:avLst/>
          </a:prstGeom>
          <a:noFill/>
          <a:extLst>
            <a:ext uri="{909E8E84-426E-40DD-AFC4-6F175D3DCCD1}">
              <a14:hiddenFill xmlns:a14="http://schemas.microsoft.com/office/drawing/2010/main">
                <a:solidFill>
                  <a:srgbClr val="FFFFFF"/>
                </a:solidFill>
              </a14:hiddenFill>
            </a:ext>
          </a:extLst>
        </p:spPr>
      </p:pic>
      <p:pic>
        <p:nvPicPr>
          <p:cNvPr id="3095" name="Picture 23">
            <a:extLst>
              <a:ext uri="{FF2B5EF4-FFF2-40B4-BE49-F238E27FC236}">
                <a16:creationId xmlns:a16="http://schemas.microsoft.com/office/drawing/2014/main" id="{5FF5ABEF-CDB5-8267-5B85-191B63E753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650875"/>
            <a:ext cx="9525" cy="9525"/>
          </a:xfrm>
          <a:prstGeom prst="rect">
            <a:avLst/>
          </a:prstGeom>
          <a:noFill/>
          <a:extLst>
            <a:ext uri="{909E8E84-426E-40DD-AFC4-6F175D3DCCD1}">
              <a14:hiddenFill xmlns:a14="http://schemas.microsoft.com/office/drawing/2010/main">
                <a:solidFill>
                  <a:srgbClr val="FFFFFF"/>
                </a:solidFill>
              </a14:hiddenFill>
            </a:ext>
          </a:extLst>
        </p:spPr>
      </p:pic>
      <p:pic>
        <p:nvPicPr>
          <p:cNvPr id="3096" name="Picture 24">
            <a:extLst>
              <a:ext uri="{FF2B5EF4-FFF2-40B4-BE49-F238E27FC236}">
                <a16:creationId xmlns:a16="http://schemas.microsoft.com/office/drawing/2014/main" id="{57385040-E16F-1CA0-81D0-3F384F6A7C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2174875"/>
            <a:ext cx="9525" cy="9525"/>
          </a:xfrm>
          <a:prstGeom prst="rect">
            <a:avLst/>
          </a:prstGeom>
          <a:noFill/>
          <a:extLst>
            <a:ext uri="{909E8E84-426E-40DD-AFC4-6F175D3DCCD1}">
              <a14:hiddenFill xmlns:a14="http://schemas.microsoft.com/office/drawing/2010/main">
                <a:solidFill>
                  <a:srgbClr val="FFFFFF"/>
                </a:solidFill>
              </a14:hiddenFill>
            </a:ext>
          </a:extLst>
        </p:spPr>
      </p:pic>
      <p:pic>
        <p:nvPicPr>
          <p:cNvPr id="3097" name="Picture 25">
            <a:extLst>
              <a:ext uri="{FF2B5EF4-FFF2-40B4-BE49-F238E27FC236}">
                <a16:creationId xmlns:a16="http://schemas.microsoft.com/office/drawing/2014/main" id="{D11B8FC4-86E5-0977-A517-91D3B9FF62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675" y="3881438"/>
            <a:ext cx="9525" cy="95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8711A81-35C4-1CDA-C91A-C2BFF01A9A99}"/>
              </a:ext>
            </a:extLst>
          </p:cNvPr>
          <p:cNvSpPr txBox="1"/>
          <p:nvPr/>
        </p:nvSpPr>
        <p:spPr>
          <a:xfrm>
            <a:off x="4310742" y="251649"/>
            <a:ext cx="3570515" cy="461665"/>
          </a:xfrm>
          <a:prstGeom prst="rect">
            <a:avLst/>
          </a:prstGeom>
          <a:noFill/>
        </p:spPr>
        <p:txBody>
          <a:bodyPr wrap="square" rtlCol="0">
            <a:spAutoFit/>
          </a:bodyPr>
          <a:lstStyle/>
          <a:p>
            <a:pPr algn="ctr"/>
            <a:r>
              <a:rPr lang="en-US" sz="24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Bivariate Analysis</a:t>
            </a:r>
            <a:endParaRPr lang="en-IN" sz="24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Image 0">
            <a:extLst>
              <a:ext uri="{FF2B5EF4-FFF2-40B4-BE49-F238E27FC236}">
                <a16:creationId xmlns:a16="http://schemas.microsoft.com/office/drawing/2014/main" id="{46888A6A-D724-BB48-5E13-3128B9592D1F}"/>
              </a:ext>
            </a:extLst>
          </p:cNvPr>
          <p:cNvPicPr>
            <a:picLocks noChangeAspect="1"/>
          </p:cNvPicPr>
          <p:nvPr/>
        </p:nvPicPr>
        <p:blipFill>
          <a:blip r:embed="rId3"/>
          <a:stretch>
            <a:fillRect/>
          </a:stretch>
        </p:blipFill>
        <p:spPr>
          <a:xfrm>
            <a:off x="853862" y="1867395"/>
            <a:ext cx="5114320" cy="3989249"/>
          </a:xfrm>
          <a:prstGeom prst="rect">
            <a:avLst/>
          </a:prstGeom>
          <a:effectLst>
            <a:outerShdw blurRad="101600" dist="38100" dir="2700000" algn="bl" rotWithShape="0">
              <a:srgbClr val="000000">
                <a:alpha val="12000"/>
              </a:srgbClr>
            </a:outerShdw>
          </a:effectLst>
        </p:spPr>
      </p:pic>
    </p:spTree>
    <p:extLst>
      <p:ext uri="{BB962C8B-B14F-4D97-AF65-F5344CB8AC3E}">
        <p14:creationId xmlns:p14="http://schemas.microsoft.com/office/powerpoint/2010/main" val="32459608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A7C01-3211-064E-75E3-FBE5AE906C6A}"/>
              </a:ext>
            </a:extLst>
          </p:cNvPr>
          <p:cNvSpPr txBox="1"/>
          <p:nvPr/>
        </p:nvSpPr>
        <p:spPr>
          <a:xfrm>
            <a:off x="1066800" y="614664"/>
            <a:ext cx="10570029"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Loan Grade vs Loan Status</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964EF9A6-D36E-48E0-7898-8C4D9BF22E37}"/>
              </a:ext>
            </a:extLst>
          </p:cNvPr>
          <p:cNvSpPr txBox="1"/>
          <p:nvPr/>
        </p:nvSpPr>
        <p:spPr>
          <a:xfrm>
            <a:off x="6705602" y="1492098"/>
            <a:ext cx="4931227" cy="3691780"/>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A grouped count plot compares loan status across credit grades.</a:t>
            </a:r>
            <a:endParaRPr lang="en-US" sz="2000" dirty="0"/>
          </a:p>
          <a:p>
            <a:pPr>
              <a:lnSpc>
                <a:spcPct val="115000"/>
              </a:lnSpc>
            </a:pPr>
            <a:endParaRPr lang="en-US" sz="2000" dirty="0"/>
          </a:p>
          <a:p>
            <a:pPr>
              <a:lnSpc>
                <a:spcPct val="115000"/>
              </a:lnSpc>
            </a:pPr>
            <a:r>
              <a:rPr lang="en-US" sz="2000" b="1" dirty="0">
                <a:solidFill>
                  <a:srgbClr val="16213A"/>
                </a:solidFill>
                <a:latin typeface="Calibri" pitchFamily="34" charset="0"/>
                <a:ea typeface="Calibri" pitchFamily="34" charset="-122"/>
                <a:cs typeface="Calibri" pitchFamily="34" charset="-120"/>
              </a:rPr>
              <a:t>Observation: </a:t>
            </a:r>
            <a:r>
              <a:rPr lang="en-US" sz="2000" dirty="0">
                <a:solidFill>
                  <a:srgbClr val="16213A"/>
                </a:solidFill>
                <a:latin typeface="Calibri" pitchFamily="34" charset="0"/>
                <a:ea typeface="Calibri" pitchFamily="34" charset="-122"/>
                <a:cs typeface="Calibri" pitchFamily="34" charset="-120"/>
              </a:rPr>
              <a:t>Lower credit grades (towards G) show a proportionally higher share of 'Not Approved' outcomes, confirming that loan grade is a strong risk indicator — exactly what credit-grading systems are designed to capture.</a:t>
            </a:r>
            <a:endParaRPr lang="en-US" sz="2000" dirty="0"/>
          </a:p>
          <a:p>
            <a:pPr>
              <a:lnSpc>
                <a:spcPct val="150000"/>
              </a:lnSpc>
              <a:spcAft>
                <a:spcPts val="400"/>
              </a:spcAft>
              <a:buSzPct val="100000"/>
            </a:pPr>
            <a:endParaRPr lang="en-US" sz="2000" dirty="0"/>
          </a:p>
        </p:txBody>
      </p:sp>
      <p:pic>
        <p:nvPicPr>
          <p:cNvPr id="8" name="Image 0">
            <a:extLst>
              <a:ext uri="{FF2B5EF4-FFF2-40B4-BE49-F238E27FC236}">
                <a16:creationId xmlns:a16="http://schemas.microsoft.com/office/drawing/2014/main" id="{A3EA49DC-343F-49F7-7C6C-902DBC280955}"/>
              </a:ext>
            </a:extLst>
          </p:cNvPr>
          <p:cNvPicPr>
            <a:picLocks noChangeAspect="1"/>
          </p:cNvPicPr>
          <p:nvPr/>
        </p:nvPicPr>
        <p:blipFill>
          <a:blip r:embed="rId2"/>
          <a:stretch>
            <a:fillRect/>
          </a:stretch>
        </p:blipFill>
        <p:spPr>
          <a:xfrm>
            <a:off x="711364" y="1407267"/>
            <a:ext cx="5758262" cy="4574459"/>
          </a:xfrm>
          <a:prstGeom prst="rect">
            <a:avLst/>
          </a:prstGeom>
          <a:effectLst>
            <a:outerShdw blurRad="101600" dist="38100" dir="2700000" algn="bl" rotWithShape="0">
              <a:srgbClr val="000000">
                <a:alpha val="12000"/>
              </a:srgbClr>
            </a:outerShdw>
          </a:effectLst>
        </p:spPr>
      </p:pic>
    </p:spTree>
    <p:extLst>
      <p:ext uri="{BB962C8B-B14F-4D97-AF65-F5344CB8AC3E}">
        <p14:creationId xmlns:p14="http://schemas.microsoft.com/office/powerpoint/2010/main" val="5844667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claude/nb_images/cell_102.png">
            <a:extLst>
              <a:ext uri="{FF2B5EF4-FFF2-40B4-BE49-F238E27FC236}">
                <a16:creationId xmlns:a16="http://schemas.microsoft.com/office/drawing/2014/main" id="{DAF13460-D62B-922F-CDC8-19F8D1F74619}"/>
              </a:ext>
            </a:extLst>
          </p:cNvPr>
          <p:cNvPicPr>
            <a:picLocks noChangeAspect="1"/>
          </p:cNvPicPr>
          <p:nvPr/>
        </p:nvPicPr>
        <p:blipFill>
          <a:blip r:embed="rId2"/>
          <a:stretch>
            <a:fillRect/>
          </a:stretch>
        </p:blipFill>
        <p:spPr>
          <a:xfrm>
            <a:off x="983224" y="1253869"/>
            <a:ext cx="4758813" cy="3662260"/>
          </a:xfrm>
          <a:prstGeom prst="rect">
            <a:avLst/>
          </a:prstGeom>
        </p:spPr>
      </p:pic>
      <p:pic>
        <p:nvPicPr>
          <p:cNvPr id="3" name="Image 1" descr="/home/claude/nb_images/cell_105.png">
            <a:extLst>
              <a:ext uri="{FF2B5EF4-FFF2-40B4-BE49-F238E27FC236}">
                <a16:creationId xmlns:a16="http://schemas.microsoft.com/office/drawing/2014/main" id="{44B9BFAE-A083-13ED-267A-89D6FC1E3FCD}"/>
              </a:ext>
            </a:extLst>
          </p:cNvPr>
          <p:cNvPicPr>
            <a:picLocks noChangeAspect="1"/>
          </p:cNvPicPr>
          <p:nvPr/>
        </p:nvPicPr>
        <p:blipFill>
          <a:blip r:embed="rId3"/>
          <a:stretch>
            <a:fillRect/>
          </a:stretch>
        </p:blipFill>
        <p:spPr>
          <a:xfrm>
            <a:off x="6449964" y="1253869"/>
            <a:ext cx="5076286" cy="3662260"/>
          </a:xfrm>
          <a:prstGeom prst="rect">
            <a:avLst/>
          </a:prstGeom>
        </p:spPr>
      </p:pic>
      <p:sp>
        <p:nvSpPr>
          <p:cNvPr id="4" name="TextBox 3">
            <a:extLst>
              <a:ext uri="{FF2B5EF4-FFF2-40B4-BE49-F238E27FC236}">
                <a16:creationId xmlns:a16="http://schemas.microsoft.com/office/drawing/2014/main" id="{5390B0E2-8B4E-64D7-50FC-C14F450FADD9}"/>
              </a:ext>
            </a:extLst>
          </p:cNvPr>
          <p:cNvSpPr txBox="1"/>
          <p:nvPr/>
        </p:nvSpPr>
        <p:spPr>
          <a:xfrm>
            <a:off x="1066800" y="526173"/>
            <a:ext cx="10570029" cy="523220"/>
          </a:xfrm>
          <a:prstGeom prst="rect">
            <a:avLst/>
          </a:prstGeom>
          <a:noFill/>
        </p:spPr>
        <p:txBody>
          <a:bodyPr wrap="square" rtlCol="0">
            <a:spAutoFit/>
          </a:bodyPr>
          <a:lstStyle/>
          <a:p>
            <a:pPr algn="ctr"/>
            <a:r>
              <a:rPr lang="en-US" sz="2800" b="1" dirty="0">
                <a:solidFill>
                  <a:srgbClr val="FF0000"/>
                </a:solidFill>
                <a:latin typeface="Cambria" pitchFamily="34" charset="0"/>
                <a:ea typeface="Cambria" pitchFamily="34" charset="-122"/>
                <a:cs typeface="Cambria" pitchFamily="34" charset="-120"/>
              </a:rPr>
              <a:t>Home Ownership &amp; Loan Intent vs Status</a:t>
            </a:r>
            <a:endParaRPr lang="en-US" sz="2800" dirty="0">
              <a:solidFill>
                <a:srgbClr val="FF0000"/>
              </a:solidFill>
            </a:endParaRPr>
          </a:p>
        </p:txBody>
      </p:sp>
      <p:sp>
        <p:nvSpPr>
          <p:cNvPr id="7" name="TextBox 6">
            <a:extLst>
              <a:ext uri="{FF2B5EF4-FFF2-40B4-BE49-F238E27FC236}">
                <a16:creationId xmlns:a16="http://schemas.microsoft.com/office/drawing/2014/main" id="{5C6C78D0-846D-51D2-22AC-871A789A4FBB}"/>
              </a:ext>
            </a:extLst>
          </p:cNvPr>
          <p:cNvSpPr txBox="1"/>
          <p:nvPr/>
        </p:nvSpPr>
        <p:spPr>
          <a:xfrm>
            <a:off x="2074607" y="5120605"/>
            <a:ext cx="10245213" cy="1429622"/>
          </a:xfrm>
          <a:prstGeom prst="rect">
            <a:avLst/>
          </a:prstGeom>
          <a:noFill/>
        </p:spPr>
        <p:txBody>
          <a:bodyPr wrap="square" rtlCol="0">
            <a:spAutoFit/>
          </a:bodyPr>
          <a:lstStyle/>
          <a:p>
            <a:pPr>
              <a:lnSpc>
                <a:spcPct val="150000"/>
              </a:lnSpc>
              <a:spcAft>
                <a:spcPts val="400"/>
              </a:spcAft>
              <a:buSzPct val="100000"/>
            </a:pPr>
            <a:r>
              <a:rPr lang="en-US" sz="2000" b="1" dirty="0">
                <a:latin typeface="Calibri" pitchFamily="34" charset="0"/>
                <a:ea typeface="Calibri" pitchFamily="34" charset="-122"/>
                <a:cs typeface="Calibri" pitchFamily="34" charset="-120"/>
              </a:rPr>
              <a:t>Observation: </a:t>
            </a:r>
            <a:r>
              <a:rPr lang="en-US" sz="2000" dirty="0">
                <a:latin typeface="Calibri" pitchFamily="34" charset="0"/>
                <a:ea typeface="Calibri" pitchFamily="34" charset="-122"/>
                <a:cs typeface="Calibri" pitchFamily="34" charset="-120"/>
              </a:rPr>
              <a:t>Renters show a relatively higher non-approval share than mortgage holders/owners; certain loan purposes (e.g. medical) also show different approval patterns, hinting at intent-based risk differences.</a:t>
            </a:r>
            <a:endParaRPr lang="en-US" sz="2000" dirty="0"/>
          </a:p>
        </p:txBody>
      </p:sp>
    </p:spTree>
    <p:extLst>
      <p:ext uri="{BB962C8B-B14F-4D97-AF65-F5344CB8AC3E}">
        <p14:creationId xmlns:p14="http://schemas.microsoft.com/office/powerpoint/2010/main" val="34671665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0AC211-8125-F165-BD60-59D3F096CA6F}"/>
              </a:ext>
            </a:extLst>
          </p:cNvPr>
          <p:cNvSpPr txBox="1"/>
          <p:nvPr/>
        </p:nvSpPr>
        <p:spPr>
          <a:xfrm>
            <a:off x="3706586" y="152753"/>
            <a:ext cx="4778828" cy="461665"/>
          </a:xfrm>
          <a:prstGeom prst="rect">
            <a:avLst/>
          </a:prstGeom>
          <a:noFill/>
        </p:spPr>
        <p:txBody>
          <a:bodyPr wrap="square" rtlCol="0">
            <a:spAutoFit/>
          </a:bodyPr>
          <a:lstStyle/>
          <a:p>
            <a:pPr algn="ctr"/>
            <a:r>
              <a:rPr lang="en-US" sz="2400" b="1" dirty="0">
                <a:solidFill>
                  <a:srgbClr val="FF0000"/>
                </a:solidFill>
                <a:latin typeface="Calibri" panose="020F0502020204030204" pitchFamily="34" charset="0"/>
                <a:ea typeface="Calibri" panose="020F0502020204030204" pitchFamily="34" charset="0"/>
                <a:cs typeface="Calibri" panose="020F0502020204030204" pitchFamily="34" charset="0"/>
              </a:rPr>
              <a:t>Multivariate Analysis</a:t>
            </a:r>
            <a:endParaRPr lang="en-IN" sz="2400" b="1"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807AB4E3-58FE-B405-7E8A-06BB47AB17AF}"/>
              </a:ext>
            </a:extLst>
          </p:cNvPr>
          <p:cNvSpPr txBox="1"/>
          <p:nvPr/>
        </p:nvSpPr>
        <p:spPr>
          <a:xfrm>
            <a:off x="6451014" y="1691501"/>
            <a:ext cx="5318227" cy="3257045"/>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The pair plot examines pairwise relationships among income, loan amount, interest rate and loan status together.</a:t>
            </a:r>
            <a:endParaRPr lang="en-US" sz="2000" dirty="0"/>
          </a:p>
          <a:p>
            <a:pPr>
              <a:lnSpc>
                <a:spcPct val="115000"/>
              </a:lnSpc>
            </a:pPr>
            <a:endParaRPr lang="en-US" sz="2000" dirty="0"/>
          </a:p>
          <a:p>
            <a:pPr>
              <a:lnSpc>
                <a:spcPct val="115000"/>
              </a:lnSpc>
            </a:pPr>
            <a:r>
              <a:rPr lang="en-US" sz="2000" b="1" dirty="0">
                <a:solidFill>
                  <a:srgbClr val="16213A"/>
                </a:solidFill>
                <a:latin typeface="Calibri" pitchFamily="34" charset="0"/>
                <a:ea typeface="Calibri" pitchFamily="34" charset="-122"/>
                <a:cs typeface="Calibri" pitchFamily="34" charset="-120"/>
              </a:rPr>
              <a:t>Observation: </a:t>
            </a:r>
            <a:r>
              <a:rPr lang="en-US" sz="2000" dirty="0">
                <a:solidFill>
                  <a:srgbClr val="16213A"/>
                </a:solidFill>
                <a:latin typeface="Calibri" pitchFamily="34" charset="0"/>
                <a:ea typeface="Calibri" pitchFamily="34" charset="-122"/>
                <a:cs typeface="Calibri" pitchFamily="34" charset="-120"/>
              </a:rPr>
              <a:t>'Not Approved' cases cluster at higher interest rates and higher loan-to-income ratios, while 'Approved' cases skew toward lower interest rates — a multivariate confirmation of single-variable findings.</a:t>
            </a:r>
            <a:endParaRPr lang="en-US" sz="2000" dirty="0"/>
          </a:p>
        </p:txBody>
      </p:sp>
      <p:pic>
        <p:nvPicPr>
          <p:cNvPr id="6" name="Image 0">
            <a:extLst>
              <a:ext uri="{FF2B5EF4-FFF2-40B4-BE49-F238E27FC236}">
                <a16:creationId xmlns:a16="http://schemas.microsoft.com/office/drawing/2014/main" id="{E7DA0B09-4476-D300-24F6-BC6B64FFC0A6}"/>
              </a:ext>
            </a:extLst>
          </p:cNvPr>
          <p:cNvPicPr>
            <a:picLocks noChangeAspect="1"/>
          </p:cNvPicPr>
          <p:nvPr/>
        </p:nvPicPr>
        <p:blipFill>
          <a:blip r:embed="rId2"/>
          <a:stretch>
            <a:fillRect/>
          </a:stretch>
        </p:blipFill>
        <p:spPr>
          <a:xfrm>
            <a:off x="422759" y="1327708"/>
            <a:ext cx="5577840" cy="5181248"/>
          </a:xfrm>
          <a:prstGeom prst="rect">
            <a:avLst/>
          </a:prstGeom>
          <a:effectLst>
            <a:outerShdw blurRad="101600" dist="38100" dir="2700000" algn="bl" rotWithShape="0">
              <a:srgbClr val="000000">
                <a:alpha val="12000"/>
              </a:srgbClr>
            </a:outerShdw>
          </a:effectLst>
        </p:spPr>
      </p:pic>
      <p:sp>
        <p:nvSpPr>
          <p:cNvPr id="7" name="TextBox 6">
            <a:extLst>
              <a:ext uri="{FF2B5EF4-FFF2-40B4-BE49-F238E27FC236}">
                <a16:creationId xmlns:a16="http://schemas.microsoft.com/office/drawing/2014/main" id="{23B59A12-221C-E122-D048-6EB8D5E624D2}"/>
              </a:ext>
            </a:extLst>
          </p:cNvPr>
          <p:cNvSpPr txBox="1"/>
          <p:nvPr/>
        </p:nvSpPr>
        <p:spPr>
          <a:xfrm>
            <a:off x="1905000" y="614418"/>
            <a:ext cx="8382000"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Income, Loan Amount &amp; Interest Rate</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455325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79DD5D-6316-2F8E-9E2E-4861F82FF699}"/>
              </a:ext>
            </a:extLst>
          </p:cNvPr>
          <p:cNvSpPr txBox="1"/>
          <p:nvPr/>
        </p:nvSpPr>
        <p:spPr>
          <a:xfrm>
            <a:off x="1970314" y="413657"/>
            <a:ext cx="8382000"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Correlation Heatmap</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EE3F45FA-B584-765F-3446-29FBEBF91838}"/>
              </a:ext>
            </a:extLst>
          </p:cNvPr>
          <p:cNvSpPr txBox="1"/>
          <p:nvPr/>
        </p:nvSpPr>
        <p:spPr>
          <a:xfrm>
            <a:off x="6350730" y="1275888"/>
            <a:ext cx="5410198" cy="3908762"/>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A correlation heatmap was used to quantify linear relationships between all numerical variables at once.</a:t>
            </a:r>
            <a:endParaRPr lang="en-US" sz="2000" dirty="0"/>
          </a:p>
          <a:p>
            <a:pPr>
              <a:lnSpc>
                <a:spcPct val="115000"/>
              </a:lnSpc>
            </a:pPr>
            <a:endParaRPr lang="en-US" sz="2000" dirty="0"/>
          </a:p>
          <a:p>
            <a:pPr>
              <a:lnSpc>
                <a:spcPct val="115000"/>
              </a:lnSpc>
            </a:pPr>
            <a:r>
              <a:rPr lang="en-US" sz="2000" b="1" dirty="0">
                <a:solidFill>
                  <a:srgbClr val="16213A"/>
                </a:solidFill>
                <a:latin typeface="Calibri" pitchFamily="34" charset="0"/>
                <a:ea typeface="Calibri" pitchFamily="34" charset="-122"/>
                <a:cs typeface="Calibri" pitchFamily="34" charset="-120"/>
              </a:rPr>
              <a:t>Observation: </a:t>
            </a:r>
            <a:r>
              <a:rPr lang="en-US" sz="2000" dirty="0" err="1">
                <a:solidFill>
                  <a:srgbClr val="16213A"/>
                </a:solidFill>
                <a:latin typeface="Calibri" pitchFamily="34" charset="0"/>
                <a:ea typeface="Calibri" pitchFamily="34" charset="-122"/>
                <a:cs typeface="Calibri" pitchFamily="34" charset="-120"/>
              </a:rPr>
              <a:t>loan_amnt</a:t>
            </a:r>
            <a:r>
              <a:rPr lang="en-US" sz="2000" dirty="0">
                <a:solidFill>
                  <a:srgbClr val="16213A"/>
                </a:solidFill>
                <a:latin typeface="Calibri" pitchFamily="34" charset="0"/>
                <a:ea typeface="Calibri" pitchFamily="34" charset="-122"/>
                <a:cs typeface="Calibri" pitchFamily="34" charset="-120"/>
              </a:rPr>
              <a:t> and </a:t>
            </a:r>
            <a:r>
              <a:rPr lang="en-US" sz="2000" dirty="0" err="1">
                <a:solidFill>
                  <a:srgbClr val="16213A"/>
                </a:solidFill>
                <a:latin typeface="Calibri" pitchFamily="34" charset="0"/>
                <a:ea typeface="Calibri" pitchFamily="34" charset="-122"/>
                <a:cs typeface="Calibri" pitchFamily="34" charset="-120"/>
              </a:rPr>
              <a:t>loan_percent_income</a:t>
            </a:r>
            <a:r>
              <a:rPr lang="en-US" sz="2000" dirty="0">
                <a:solidFill>
                  <a:srgbClr val="16213A"/>
                </a:solidFill>
                <a:latin typeface="Calibri" pitchFamily="34" charset="0"/>
                <a:ea typeface="Calibri" pitchFamily="34" charset="-122"/>
                <a:cs typeface="Calibri" pitchFamily="34" charset="-120"/>
              </a:rPr>
              <a:t> show a notable positive correlation; </a:t>
            </a:r>
            <a:r>
              <a:rPr lang="en-US" sz="2000" dirty="0" err="1">
                <a:solidFill>
                  <a:srgbClr val="16213A"/>
                </a:solidFill>
                <a:latin typeface="Calibri" pitchFamily="34" charset="0"/>
                <a:ea typeface="Calibri" pitchFamily="34" charset="-122"/>
                <a:cs typeface="Calibri" pitchFamily="34" charset="-120"/>
              </a:rPr>
              <a:t>person_age</a:t>
            </a:r>
            <a:r>
              <a:rPr lang="en-US" sz="2000" dirty="0">
                <a:solidFill>
                  <a:srgbClr val="16213A"/>
                </a:solidFill>
                <a:latin typeface="Calibri" pitchFamily="34" charset="0"/>
                <a:ea typeface="Calibri" pitchFamily="34" charset="-122"/>
                <a:cs typeface="Calibri" pitchFamily="34" charset="-120"/>
              </a:rPr>
              <a:t> and </a:t>
            </a:r>
            <a:r>
              <a:rPr lang="en-US" sz="2000" dirty="0" err="1">
                <a:solidFill>
                  <a:srgbClr val="16213A"/>
                </a:solidFill>
                <a:latin typeface="Calibri" pitchFamily="34" charset="0"/>
                <a:ea typeface="Calibri" pitchFamily="34" charset="-122"/>
                <a:cs typeface="Calibri" pitchFamily="34" charset="-120"/>
              </a:rPr>
              <a:t>cb_person_cred_hist_length</a:t>
            </a:r>
            <a:r>
              <a:rPr lang="en-US" sz="2000" dirty="0">
                <a:solidFill>
                  <a:srgbClr val="16213A"/>
                </a:solidFill>
                <a:latin typeface="Calibri" pitchFamily="34" charset="0"/>
                <a:ea typeface="Calibri" pitchFamily="34" charset="-122"/>
                <a:cs typeface="Calibri" pitchFamily="34" charset="-120"/>
              </a:rPr>
              <a:t> are strongly correlated, as expected. These relationships guide feature selection for any future modelling.</a:t>
            </a:r>
            <a:endParaRPr lang="en-US" sz="2000" dirty="0"/>
          </a:p>
          <a:p>
            <a:endParaRPr lang="en-US" b="1" dirty="0">
              <a:latin typeface="Calibri" panose="020F0502020204030204" pitchFamily="34" charset="0"/>
              <a:ea typeface="Calibri" panose="020F0502020204030204" pitchFamily="34" charset="0"/>
              <a:cs typeface="Calibri" panose="020F0502020204030204" pitchFamily="34" charset="0"/>
            </a:endParaRPr>
          </a:p>
        </p:txBody>
      </p:sp>
      <p:pic>
        <p:nvPicPr>
          <p:cNvPr id="3" name="Image 0">
            <a:extLst>
              <a:ext uri="{FF2B5EF4-FFF2-40B4-BE49-F238E27FC236}">
                <a16:creationId xmlns:a16="http://schemas.microsoft.com/office/drawing/2014/main" id="{6E02F62D-985F-54C4-9E42-A6C3E9C8F3ED}"/>
              </a:ext>
            </a:extLst>
          </p:cNvPr>
          <p:cNvPicPr>
            <a:picLocks noChangeAspect="1"/>
          </p:cNvPicPr>
          <p:nvPr/>
        </p:nvPicPr>
        <p:blipFill>
          <a:blip r:embed="rId2"/>
          <a:stretch>
            <a:fillRect/>
          </a:stretch>
        </p:blipFill>
        <p:spPr>
          <a:xfrm>
            <a:off x="431072" y="1277644"/>
            <a:ext cx="5577840" cy="4995335"/>
          </a:xfrm>
          <a:prstGeom prst="rect">
            <a:avLst/>
          </a:prstGeom>
          <a:effectLst>
            <a:outerShdw blurRad="101600" dist="38100" dir="2700000" algn="bl" rotWithShape="0">
              <a:srgbClr val="000000">
                <a:alpha val="12000"/>
              </a:srgbClr>
            </a:outerShdw>
          </a:effectLst>
        </p:spPr>
      </p:pic>
    </p:spTree>
    <p:extLst>
      <p:ext uri="{BB962C8B-B14F-4D97-AF65-F5344CB8AC3E}">
        <p14:creationId xmlns:p14="http://schemas.microsoft.com/office/powerpoint/2010/main" val="7114497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41BAFD0-B5E0-F8A8-E3DA-09A7238737D8}"/>
              </a:ext>
            </a:extLst>
          </p:cNvPr>
          <p:cNvSpPr txBox="1"/>
          <p:nvPr/>
        </p:nvSpPr>
        <p:spPr>
          <a:xfrm>
            <a:off x="6784258" y="1380045"/>
            <a:ext cx="5292563" cy="3708708"/>
          </a:xfrm>
          <a:prstGeom prst="rect">
            <a:avLst/>
          </a:prstGeom>
          <a:noFill/>
        </p:spPr>
        <p:txBody>
          <a:bodyPr wrap="square" rtlCol="0">
            <a:spAutoFit/>
          </a:bodyPr>
          <a:lstStyle/>
          <a:p>
            <a:pPr>
              <a:lnSpc>
                <a:spcPct val="115000"/>
              </a:lnSpc>
            </a:pPr>
            <a:r>
              <a:rPr lang="en-US" sz="2000" dirty="0">
                <a:solidFill>
                  <a:srgbClr val="16213A"/>
                </a:solidFill>
                <a:latin typeface="Calibri" pitchFamily="34" charset="0"/>
                <a:ea typeface="Calibri" pitchFamily="34" charset="-122"/>
                <a:cs typeface="Calibri" pitchFamily="34" charset="-120"/>
              </a:rPr>
              <a:t>This advanced scatter plot encodes four dimensions at once: income (x), loan amount (y), loan grade (</a:t>
            </a:r>
            <a:r>
              <a:rPr lang="en-US" sz="2000" dirty="0" err="1">
                <a:solidFill>
                  <a:srgbClr val="16213A"/>
                </a:solidFill>
                <a:latin typeface="Calibri" pitchFamily="34" charset="0"/>
                <a:ea typeface="Calibri" pitchFamily="34" charset="-122"/>
                <a:cs typeface="Calibri" pitchFamily="34" charset="-120"/>
              </a:rPr>
              <a:t>colour</a:t>
            </a:r>
            <a:r>
              <a:rPr lang="en-US" sz="2000" dirty="0">
                <a:solidFill>
                  <a:srgbClr val="16213A"/>
                </a:solidFill>
                <a:latin typeface="Calibri" pitchFamily="34" charset="0"/>
                <a:ea typeface="Calibri" pitchFamily="34" charset="-122"/>
                <a:cs typeface="Calibri" pitchFamily="34" charset="-120"/>
              </a:rPr>
              <a:t>) and loan-percent-income (point size).</a:t>
            </a:r>
            <a:endParaRPr lang="en-US" sz="2000" dirty="0"/>
          </a:p>
          <a:p>
            <a:pPr>
              <a:lnSpc>
                <a:spcPct val="115000"/>
              </a:lnSpc>
            </a:pPr>
            <a:endParaRPr lang="en-US" sz="2000" dirty="0"/>
          </a:p>
          <a:p>
            <a:pPr>
              <a:lnSpc>
                <a:spcPct val="115000"/>
              </a:lnSpc>
            </a:pPr>
            <a:r>
              <a:rPr lang="en-US" sz="2000" b="1" dirty="0">
                <a:solidFill>
                  <a:srgbClr val="16213A"/>
                </a:solidFill>
                <a:latin typeface="Calibri" pitchFamily="34" charset="0"/>
                <a:ea typeface="Calibri" pitchFamily="34" charset="-122"/>
                <a:cs typeface="Calibri" pitchFamily="34" charset="-120"/>
              </a:rPr>
              <a:t>Observation: </a:t>
            </a:r>
            <a:r>
              <a:rPr lang="en-US" sz="2000" dirty="0">
                <a:solidFill>
                  <a:srgbClr val="16213A"/>
                </a:solidFill>
                <a:latin typeface="Calibri" pitchFamily="34" charset="0"/>
                <a:ea typeface="Calibri" pitchFamily="34" charset="-122"/>
                <a:cs typeface="Calibri" pitchFamily="34" charset="-120"/>
              </a:rPr>
              <a:t>Higher grades (A/B) cluster at lower loan-to-income ratios; lower grades show larger, riskier loan sizes relative to income — multiple risk factors compounding together.</a:t>
            </a:r>
            <a:endParaRPr lang="en-US" sz="2000" dirty="0"/>
          </a:p>
          <a:p>
            <a:endParaRPr lang="en-IN" sz="2800" dirty="0">
              <a:latin typeface="Calibri" panose="020F0502020204030204" pitchFamily="34" charset="0"/>
              <a:ea typeface="Calibri" panose="020F0502020204030204" pitchFamily="34" charset="0"/>
              <a:cs typeface="Calibri" panose="020F0502020204030204" pitchFamily="34" charset="0"/>
            </a:endParaRPr>
          </a:p>
        </p:txBody>
      </p:sp>
      <p:pic>
        <p:nvPicPr>
          <p:cNvPr id="4" name="Image 0">
            <a:extLst>
              <a:ext uri="{FF2B5EF4-FFF2-40B4-BE49-F238E27FC236}">
                <a16:creationId xmlns:a16="http://schemas.microsoft.com/office/drawing/2014/main" id="{1671C906-9408-3BB4-89CF-0921BB1A3A9D}"/>
              </a:ext>
            </a:extLst>
          </p:cNvPr>
          <p:cNvPicPr>
            <a:picLocks noChangeAspect="1"/>
          </p:cNvPicPr>
          <p:nvPr/>
        </p:nvPicPr>
        <p:blipFill>
          <a:blip r:embed="rId2"/>
          <a:stretch>
            <a:fillRect/>
          </a:stretch>
        </p:blipFill>
        <p:spPr>
          <a:xfrm>
            <a:off x="547798" y="1291555"/>
            <a:ext cx="5941491" cy="5036487"/>
          </a:xfrm>
          <a:prstGeom prst="rect">
            <a:avLst/>
          </a:prstGeom>
          <a:effectLst>
            <a:outerShdw blurRad="101600" dist="38100" dir="2700000" algn="bl" rotWithShape="0">
              <a:srgbClr val="000000">
                <a:alpha val="12000"/>
              </a:srgbClr>
            </a:outerShdw>
          </a:effectLst>
        </p:spPr>
      </p:pic>
      <p:sp>
        <p:nvSpPr>
          <p:cNvPr id="6" name="TextBox 5">
            <a:extLst>
              <a:ext uri="{FF2B5EF4-FFF2-40B4-BE49-F238E27FC236}">
                <a16:creationId xmlns:a16="http://schemas.microsoft.com/office/drawing/2014/main" id="{A00AAC7C-C7C9-5E52-FF8B-061E26E0C9FB}"/>
              </a:ext>
            </a:extLst>
          </p:cNvPr>
          <p:cNvSpPr txBox="1"/>
          <p:nvPr/>
        </p:nvSpPr>
        <p:spPr>
          <a:xfrm>
            <a:off x="1345790" y="441468"/>
            <a:ext cx="9500419" cy="523220"/>
          </a:xfrm>
          <a:prstGeom prst="rect">
            <a:avLst/>
          </a:prstGeom>
          <a:noFill/>
        </p:spPr>
        <p:txBody>
          <a:bodyPr wrap="square" rtlCol="0">
            <a:spAutoFit/>
          </a:bodyPr>
          <a:lstStyle/>
          <a:p>
            <a:pPr algn="ctr"/>
            <a:r>
              <a:rPr lang="en-US" sz="2800" b="1" dirty="0">
                <a:solidFill>
                  <a:srgbClr val="FF0000"/>
                </a:solidFill>
                <a:latin typeface="Cambria" pitchFamily="34" charset="0"/>
                <a:ea typeface="Cambria" pitchFamily="34" charset="-122"/>
                <a:cs typeface="Cambria" pitchFamily="34" charset="-120"/>
              </a:rPr>
              <a:t>Income vs Loan Amount by Loan Grade &amp; % Income</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917306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E7BD098-99AF-C3CC-363B-39D3F7884C4D}"/>
              </a:ext>
            </a:extLst>
          </p:cNvPr>
          <p:cNvSpPr txBox="1"/>
          <p:nvPr/>
        </p:nvSpPr>
        <p:spPr>
          <a:xfrm>
            <a:off x="1905000" y="643915"/>
            <a:ext cx="8382000" cy="523220"/>
          </a:xfrm>
          <a:prstGeom prst="rect">
            <a:avLst/>
          </a:prstGeom>
          <a:noFill/>
        </p:spPr>
        <p:txBody>
          <a:bodyPr wrap="square" rtlCol="0">
            <a:spAutoFit/>
          </a:bodyPr>
          <a:lstStyle/>
          <a:p>
            <a:pPr algn="ctr"/>
            <a:r>
              <a:rPr lang="en-US"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rPr>
              <a:t>Conclusion</a:t>
            </a:r>
            <a:endParaRPr lang="en-IN" sz="2800" b="1" dirty="0">
              <a:solidFill>
                <a:srgbClr val="FF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0E7E6245-5C8D-1673-7E42-6DFE87A2081C}"/>
              </a:ext>
            </a:extLst>
          </p:cNvPr>
          <p:cNvSpPr txBox="1"/>
          <p:nvPr/>
        </p:nvSpPr>
        <p:spPr>
          <a:xfrm>
            <a:off x="2330246" y="1507864"/>
            <a:ext cx="9035845" cy="3631250"/>
          </a:xfrm>
          <a:prstGeom prst="rect">
            <a:avLst/>
          </a:prstGeom>
          <a:noFill/>
        </p:spPr>
        <p:txBody>
          <a:bodyPr wrap="square" rtlCol="0">
            <a:spAutoFit/>
          </a:bodyPr>
          <a:lstStyle/>
          <a:p>
            <a:pPr marL="457200" indent="-457200">
              <a:lnSpc>
                <a:spcPct val="150000"/>
              </a:lnSpc>
              <a:buFont typeface="Arial" panose="020B0604020202020204" pitchFamily="34" charset="0"/>
              <a:buChar char="•"/>
            </a:pPr>
            <a:r>
              <a:rPr lang="en-IN" sz="2600" dirty="0" err="1"/>
              <a:t>Analyzed</a:t>
            </a:r>
            <a:r>
              <a:rPr lang="en-IN" sz="2600" dirty="0"/>
              <a:t> borrower and loan characteristics.</a:t>
            </a:r>
          </a:p>
          <a:p>
            <a:pPr marL="457200" indent="-457200">
              <a:lnSpc>
                <a:spcPct val="150000"/>
              </a:lnSpc>
              <a:buFont typeface="Arial" panose="020B0604020202020204" pitchFamily="34" charset="0"/>
              <a:buChar char="•"/>
            </a:pPr>
            <a:r>
              <a:rPr lang="en-IN" sz="2600" dirty="0"/>
              <a:t>Identified key factors affecting credit risk.</a:t>
            </a:r>
          </a:p>
          <a:p>
            <a:pPr marL="457200" indent="-457200">
              <a:lnSpc>
                <a:spcPct val="150000"/>
              </a:lnSpc>
              <a:buFont typeface="Arial" panose="020B0604020202020204" pitchFamily="34" charset="0"/>
              <a:buChar char="•"/>
            </a:pPr>
            <a:r>
              <a:rPr lang="en-IN" sz="2600" dirty="0"/>
              <a:t>Discovered patterns in income, loan amount, and interest rates.</a:t>
            </a:r>
          </a:p>
          <a:p>
            <a:pPr marL="457200" indent="-457200">
              <a:lnSpc>
                <a:spcPct val="150000"/>
              </a:lnSpc>
              <a:buFont typeface="Arial" panose="020B0604020202020204" pitchFamily="34" charset="0"/>
              <a:buChar char="•"/>
            </a:pPr>
            <a:r>
              <a:rPr lang="en-IN" sz="2600" dirty="0"/>
              <a:t>Generated insights for better loan approval decisions.</a:t>
            </a:r>
          </a:p>
          <a:p>
            <a:pPr marL="457200" indent="-457200">
              <a:lnSpc>
                <a:spcPct val="150000"/>
              </a:lnSpc>
              <a:buFont typeface="Arial" panose="020B0604020202020204" pitchFamily="34" charset="0"/>
              <a:buChar char="•"/>
            </a:pPr>
            <a:r>
              <a:rPr lang="en-IN" sz="2600" dirty="0"/>
              <a:t>Supports effective risk management and reduced default risk.</a:t>
            </a:r>
            <a:endParaRPr lang="en-IN" sz="26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588934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456683" y="2235468"/>
            <a:ext cx="4465643" cy="2834317"/>
          </a:xfrm>
          <a:prstGeom prst="rect">
            <a:avLst/>
          </a:prstGeom>
          <a:noFill/>
          <a:ln>
            <a:noFill/>
          </a:ln>
        </p:spPr>
      </p:pic>
      <p:sp>
        <p:nvSpPr>
          <p:cNvPr id="117" name="Google Shape;117;p5"/>
          <p:cNvSpPr txBox="1"/>
          <p:nvPr/>
        </p:nvSpPr>
        <p:spPr>
          <a:xfrm>
            <a:off x="2257322" y="2883186"/>
            <a:ext cx="3661836" cy="7694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00000"/>
              </a:buClr>
              <a:buSzPts val="4400"/>
              <a:buFont typeface="Libre Baskerville"/>
              <a:buNone/>
            </a:pPr>
            <a:r>
              <a:rPr lang="en-IN" sz="4400" b="0" i="0" u="none" strike="noStrike" cap="none" dirty="0">
                <a:solidFill>
                  <a:srgbClr val="C00000"/>
                </a:solidFill>
                <a:latin typeface="Libre Baskerville"/>
                <a:ea typeface="Libre Baskerville"/>
                <a:cs typeface="Libre Baskerville"/>
                <a:sym typeface="Libre Baskerville"/>
              </a:rPr>
              <a:t>THANK YOU</a:t>
            </a:r>
            <a:endParaRPr sz="1800" b="0" i="0" u="none" strike="noStrike" cap="none" dirty="0">
              <a:solidFill>
                <a:schemeClr val="dk1"/>
              </a:solidFill>
              <a:latin typeface="Calibri"/>
              <a:ea typeface="Calibri"/>
              <a:cs typeface="Calibri"/>
              <a:sym typeface="Calibri"/>
            </a:endParaRP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1594</TotalTime>
  <Words>1256</Words>
  <Application>Microsoft Office PowerPoint</Application>
  <PresentationFormat>Widescreen</PresentationFormat>
  <Paragraphs>131</Paragraphs>
  <Slides>22</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22</vt:i4>
      </vt:variant>
    </vt:vector>
  </HeadingPairs>
  <TitlesOfParts>
    <vt:vector size="31" baseType="lpstr">
      <vt:lpstr>Arial</vt:lpstr>
      <vt:lpstr>Arial </vt:lpstr>
      <vt:lpstr>Calibri</vt:lpstr>
      <vt:lpstr>Cambria</vt:lpstr>
      <vt:lpstr>Corbel</vt:lpstr>
      <vt:lpstr>Google Sans</vt:lpstr>
      <vt:lpstr>Libre Baskerville</vt:lpstr>
      <vt:lpstr>Times New Roman</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Raghu Ram Aduri</dc:creator>
  <cp:lastModifiedBy>Mohit Chaudhari</cp:lastModifiedBy>
  <cp:revision>17</cp:revision>
  <dcterms:created xsi:type="dcterms:W3CDTF">2021-02-16T05:19:01Z</dcterms:created>
  <dcterms:modified xsi:type="dcterms:W3CDTF">2026-06-19T10:56:40Z</dcterms:modified>
</cp:coreProperties>
</file>